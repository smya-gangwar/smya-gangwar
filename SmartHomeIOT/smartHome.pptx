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7" r:id="rId2"/>
    <p:sldId id="258" r:id="rId3"/>
    <p:sldId id="259" r:id="rId4"/>
    <p:sldId id="260" r:id="rId5"/>
    <p:sldId id="264" r:id="rId6"/>
    <p:sldId id="265" r:id="rId7"/>
    <p:sldId id="266" r:id="rId8"/>
    <p:sldId id="267" r:id="rId9"/>
    <p:sldId id="268" r:id="rId10"/>
    <p:sldId id="261" r:id="rId11"/>
    <p:sldId id="269" r:id="rId12"/>
    <p:sldId id="270" r:id="rId13"/>
    <p:sldId id="262" r:id="rId14"/>
    <p:sldId id="263" r:id="rId15"/>
    <p:sldId id="271"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8771FDA-8805-44D1-A23A-A9BCCF8EFA22}" type="datetimeFigureOut">
              <a:rPr lang="en-US" smtClean="0"/>
              <a:pPr/>
              <a:t>2/28/2021</a:t>
            </a:fld>
            <a:endParaRPr lang="en-IN"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0C6CEAC-AC87-4C3B-A625-4E723DEC3F68}" type="slidenum">
              <a:rPr lang="en-IN" smtClean="0"/>
              <a:pPr/>
              <a:t>‹#›</a:t>
            </a:fld>
            <a:endParaRPr lang="en-IN"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B0C6CEAC-AC87-4C3B-A625-4E723DEC3F68}" type="slidenum">
              <a:rPr lang="en-IN" smtClean="0"/>
              <a:pPr/>
              <a:t>3</a:t>
            </a:fld>
            <a:endParaRPr lang="en-I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EAC61E1C-4856-458F-A494-2B797CE10AB6}" type="datetimeFigureOut">
              <a:rPr lang="en-US" smtClean="0"/>
              <a:pPr/>
              <a:t>2/28/2021</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D154BCCA-05BB-418F-B0AD-CF39ABB7D78C}" type="slidenum">
              <a:rPr lang="en-IN" smtClean="0"/>
              <a:pPr/>
              <a:t>‹#›</a:t>
            </a:fld>
            <a:endParaRPr lang="en-I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AC61E1C-4856-458F-A494-2B797CE10AB6}" type="datetimeFigureOut">
              <a:rPr lang="en-US" smtClean="0"/>
              <a:pPr/>
              <a:t>2/28/2021</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D154BCCA-05BB-418F-B0AD-CF39ABB7D78C}" type="slidenum">
              <a:rPr lang="en-IN" smtClean="0"/>
              <a:pPr/>
              <a:t>‹#›</a:t>
            </a:fld>
            <a:endParaRPr lang="en-I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AC61E1C-4856-458F-A494-2B797CE10AB6}" type="datetimeFigureOut">
              <a:rPr lang="en-US" smtClean="0"/>
              <a:pPr/>
              <a:t>2/28/2021</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D154BCCA-05BB-418F-B0AD-CF39ABB7D78C}" type="slidenum">
              <a:rPr lang="en-IN" smtClean="0"/>
              <a:pPr/>
              <a:t>‹#›</a:t>
            </a:fld>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342901" y="2133601"/>
            <a:ext cx="3009900" cy="60340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3505201" y="2133601"/>
            <a:ext cx="3009900" cy="60340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EAC61E1C-4856-458F-A494-2B797CE10AB6}" type="datetimeFigureOut">
              <a:rPr lang="en-US" smtClean="0"/>
              <a:pPr/>
              <a:t>2/28/2021</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D154BCCA-05BB-418F-B0AD-CF39ABB7D78C}" type="slidenum">
              <a:rPr lang="en-IN" smtClean="0"/>
              <a:pPr/>
              <a:t>‹#›</a:t>
            </a:fld>
            <a:endParaRPr lang="en-IN"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EAC61E1C-4856-458F-A494-2B797CE10AB6}" type="datetimeFigureOut">
              <a:rPr lang="en-US" smtClean="0"/>
              <a:pPr/>
              <a:t>2/28/2021</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D154BCCA-05BB-418F-B0AD-CF39ABB7D78C}" type="slidenum">
              <a:rPr lang="en-IN" smtClean="0"/>
              <a:pPr/>
              <a:t>‹#›</a:t>
            </a:fld>
            <a:endParaRPr lang="en-IN"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EAC61E1C-4856-458F-A494-2B797CE10AB6}" type="datetimeFigureOut">
              <a:rPr lang="en-US" smtClean="0"/>
              <a:pPr/>
              <a:t>2/28/2021</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D154BCCA-05BB-418F-B0AD-CF39ABB7D78C}" type="slidenum">
              <a:rPr lang="en-IN" smtClean="0"/>
              <a:pPr/>
              <a:t>‹#›</a:t>
            </a:fld>
            <a:endParaRPr lang="en-IN"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AC61E1C-4856-458F-A494-2B797CE10AB6}" type="datetimeFigureOut">
              <a:rPr lang="en-US" smtClean="0"/>
              <a:pPr/>
              <a:t>2/28/2021</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D154BCCA-05BB-418F-B0AD-CF39ABB7D78C}" type="slidenum">
              <a:rPr lang="en-IN" smtClean="0"/>
              <a:pPr/>
              <a:t>‹#›</a:t>
            </a:fld>
            <a:endParaRPr lang="en-IN"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AC61E1C-4856-458F-A494-2B797CE10AB6}" type="datetimeFigureOut">
              <a:rPr lang="en-US" smtClean="0"/>
              <a:pPr/>
              <a:t>2/28/2021</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D154BCCA-05BB-418F-B0AD-CF39ABB7D78C}" type="slidenum">
              <a:rPr lang="en-IN" smtClean="0"/>
              <a:pPr/>
              <a:t>‹#›</a:t>
            </a:fld>
            <a:endParaRPr lang="en-IN"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AC61E1C-4856-458F-A494-2B797CE10AB6}" type="datetimeFigureOut">
              <a:rPr lang="en-US" smtClean="0"/>
              <a:pPr/>
              <a:t>2/28/2021</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D154BCCA-05BB-418F-B0AD-CF39ABB7D78C}" type="slidenum">
              <a:rPr lang="en-IN" smtClean="0"/>
              <a:pPr/>
              <a:t>‹#›</a:t>
            </a:fld>
            <a:endParaRPr lang="en-IN"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AC61E1C-4856-458F-A494-2B797CE10AB6}" type="datetimeFigureOut">
              <a:rPr lang="en-US" smtClean="0"/>
              <a:pPr/>
              <a:t>2/28/2021</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D154BCCA-05BB-418F-B0AD-CF39ABB7D78C}" type="slidenum">
              <a:rPr lang="en-IN" smtClean="0"/>
              <a:pPr/>
              <a:t>‹#›</a:t>
            </a:fld>
            <a:endParaRPr lang="en-IN"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72049" y="366713"/>
            <a:ext cx="1543051" cy="780097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342901" y="366713"/>
            <a:ext cx="4476751" cy="78009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AC61E1C-4856-458F-A494-2B797CE10AB6}" type="datetimeFigureOut">
              <a:rPr lang="en-US" smtClean="0"/>
              <a:pPr/>
              <a:t>2/28/2021</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D154BCCA-05BB-418F-B0AD-CF39ABB7D78C}" type="slidenum">
              <a:rPr lang="en-IN" smtClean="0"/>
              <a:pPr/>
              <a:t>‹#›</a:t>
            </a:fld>
            <a:endParaRPr lang="en-IN"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C61E1C-4856-458F-A494-2B797CE10AB6}" type="datetimeFigureOut">
              <a:rPr lang="en-US" smtClean="0"/>
              <a:pPr/>
              <a:t>2/28/2021</a:t>
            </a:fld>
            <a:endParaRPr lang="en-IN" dirty="0"/>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154BCCA-05BB-418F-B0AD-CF39ABB7D78C}" type="slidenum">
              <a:rPr lang="en-IN" smtClean="0"/>
              <a:pPr/>
              <a:t>‹#›</a:t>
            </a:fld>
            <a:endParaRPr lang="en-I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00166" y="285728"/>
            <a:ext cx="6195094" cy="923330"/>
          </a:xfrm>
          <a:prstGeom prst="rect">
            <a:avLst/>
          </a:prstGeom>
          <a:noFill/>
        </p:spPr>
        <p:txBody>
          <a:bodyPr wrap="none" lIns="91440" tIns="45720" rIns="91440" bIns="45720">
            <a:spAutoFit/>
          </a:bodyPr>
          <a:lstStyle/>
          <a:p>
            <a:pPr algn="ctr"/>
            <a:r>
              <a:rPr lang="en-US" sz="5400" b="0" cap="none" spc="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Software Engineering</a:t>
            </a:r>
            <a:endParaRPr lang="en-US" sz="5400" b="0" cap="none" spc="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3" name="Rectangle 2"/>
          <p:cNvSpPr/>
          <p:nvPr/>
        </p:nvSpPr>
        <p:spPr>
          <a:xfrm>
            <a:off x="0" y="2143116"/>
            <a:ext cx="9144000" cy="2585323"/>
          </a:xfrm>
          <a:prstGeom prst="rect">
            <a:avLst/>
          </a:prstGeom>
          <a:noFill/>
        </p:spPr>
        <p:txBody>
          <a:bodyPr wrap="square" lIns="91440" tIns="45720" rIns="91440" bIns="45720">
            <a:spAutoFit/>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r>
              <a:rPr lang="en-US" sz="5400" b="1" u="sng" cap="none" spc="0" dirty="0" smtClean="0">
                <a:ln>
                  <a:prstDash val="solid"/>
                </a:ln>
                <a:solidFill>
                  <a:schemeClr val="accent6">
                    <a:lumMod val="50000"/>
                  </a:schemeClr>
                </a:solidFill>
                <a:effectLst>
                  <a:outerShdw blurRad="88000" dist="50800" dir="5040000" algn="tl">
                    <a:schemeClr val="accent4">
                      <a:tint val="80000"/>
                      <a:satMod val="250000"/>
                      <a:alpha val="45000"/>
                    </a:schemeClr>
                  </a:outerShdw>
                </a:effectLst>
                <a:latin typeface="Book Antiqua" pitchFamily="18" charset="0"/>
              </a:rPr>
              <a:t>Project:</a:t>
            </a:r>
            <a:endParaRPr lang="en-US" sz="5400" b="1" u="sng" dirty="0">
              <a:ln>
                <a:prstDash val="solid"/>
              </a:ln>
              <a:solidFill>
                <a:schemeClr val="accent6">
                  <a:lumMod val="50000"/>
                </a:schemeClr>
              </a:solidFill>
              <a:effectLst>
                <a:outerShdw blurRad="88000" dist="50800" dir="5040000" algn="tl">
                  <a:schemeClr val="accent4">
                    <a:tint val="80000"/>
                    <a:satMod val="250000"/>
                    <a:alpha val="45000"/>
                  </a:schemeClr>
                </a:outerShdw>
              </a:effectLst>
              <a:latin typeface="Book Antiqua" pitchFamily="18" charset="0"/>
            </a:endParaRPr>
          </a:p>
          <a:p>
            <a:pPr algn="ctr"/>
            <a:r>
              <a:rPr lang="en-US" sz="5400" b="1" cap="none" spc="0" dirty="0" smtClean="0">
                <a:ln>
                  <a:prstDash val="solid"/>
                </a:ln>
                <a:solidFill>
                  <a:schemeClr val="accent6">
                    <a:lumMod val="50000"/>
                  </a:schemeClr>
                </a:solidFill>
                <a:effectLst>
                  <a:outerShdw blurRad="88000" dist="50800" dir="5040000" algn="tl">
                    <a:schemeClr val="accent4">
                      <a:tint val="80000"/>
                      <a:satMod val="250000"/>
                      <a:alpha val="45000"/>
                    </a:schemeClr>
                  </a:outerShdw>
                </a:effectLst>
                <a:latin typeface="Book Antiqua" pitchFamily="18" charset="0"/>
              </a:rPr>
              <a:t>SMART HOME</a:t>
            </a:r>
          </a:p>
          <a:p>
            <a:pPr algn="ctr"/>
            <a:r>
              <a:rPr lang="en-US" sz="5400" b="1" cap="none" spc="0" dirty="0" smtClean="0">
                <a:ln>
                  <a:prstDash val="solid"/>
                </a:ln>
                <a:solidFill>
                  <a:schemeClr val="accent6">
                    <a:lumMod val="50000"/>
                  </a:schemeClr>
                </a:solidFill>
                <a:effectLst>
                  <a:outerShdw blurRad="88000" dist="50800" dir="5040000" algn="tl">
                    <a:schemeClr val="accent4">
                      <a:tint val="80000"/>
                      <a:satMod val="250000"/>
                      <a:alpha val="45000"/>
                    </a:schemeClr>
                  </a:outerShdw>
                </a:effectLst>
                <a:latin typeface="Book Antiqua" pitchFamily="18" charset="0"/>
              </a:rPr>
              <a:t>(Home Automation System)</a:t>
            </a:r>
            <a:endParaRPr lang="en-US" sz="5400" b="1" u="sng" cap="none" spc="0" dirty="0">
              <a:ln>
                <a:prstDash val="solid"/>
              </a:ln>
              <a:solidFill>
                <a:schemeClr val="accent6">
                  <a:lumMod val="50000"/>
                </a:schemeClr>
              </a:solidFill>
              <a:effectLst>
                <a:outerShdw blurRad="88000" dist="50800" dir="5040000" algn="tl">
                  <a:schemeClr val="accent4">
                    <a:tint val="80000"/>
                    <a:satMod val="250000"/>
                    <a:alpha val="45000"/>
                  </a:schemeClr>
                </a:outerShdw>
              </a:effectLst>
              <a:latin typeface="Book Antiqua"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5720" y="2786058"/>
            <a:ext cx="8501122" cy="2923877"/>
          </a:xfrm>
          <a:prstGeom prst="rect">
            <a:avLst/>
          </a:prstGeom>
          <a:noFill/>
        </p:spPr>
        <p:txBody>
          <a:bodyPr wrap="square" rtlCol="0">
            <a:spAutoFit/>
          </a:bodyPr>
          <a:lstStyle/>
          <a:p>
            <a:r>
              <a:rPr lang="en-IN" sz="2400" b="1" u="sng" dirty="0" smtClean="0">
                <a:latin typeface="Book Antiqua" pitchFamily="18" charset="0"/>
              </a:rPr>
              <a:t>Purpose:</a:t>
            </a:r>
          </a:p>
          <a:p>
            <a:r>
              <a:rPr lang="en-IN" sz="2000" dirty="0" smtClean="0">
                <a:latin typeface="Book Antiqua" pitchFamily="18" charset="0"/>
              </a:rPr>
              <a:t>This automation system with high range of connectivity allows users to control their homes easily and efficiently via a user-friendly interface using smart phones and/or laptops regardless of time and location. This will use Wi-Fi </a:t>
            </a:r>
            <a:r>
              <a:rPr lang="en-IN" sz="2000" dirty="0" smtClean="0">
                <a:latin typeface="Book Antiqua" pitchFamily="18" charset="0"/>
              </a:rPr>
              <a:t>facility and sensors </a:t>
            </a:r>
            <a:r>
              <a:rPr lang="en-IN" sz="2000" dirty="0" smtClean="0">
                <a:latin typeface="Book Antiqua" pitchFamily="18" charset="0"/>
              </a:rPr>
              <a:t>to integrate the appliances. Proposed system considers safety and security. For this project we will be focusing on lights, security camera and fans in the house. This can be further elaborated and applied to other appliances as well.</a:t>
            </a:r>
          </a:p>
        </p:txBody>
      </p:sp>
      <p:sp>
        <p:nvSpPr>
          <p:cNvPr id="3" name="TextBox 2"/>
          <p:cNvSpPr txBox="1"/>
          <p:nvPr/>
        </p:nvSpPr>
        <p:spPr>
          <a:xfrm>
            <a:off x="285720" y="1357298"/>
            <a:ext cx="8572560" cy="1138773"/>
          </a:xfrm>
          <a:prstGeom prst="rect">
            <a:avLst/>
          </a:prstGeom>
          <a:noFill/>
        </p:spPr>
        <p:txBody>
          <a:bodyPr wrap="square" rtlCol="0">
            <a:spAutoFit/>
          </a:bodyPr>
          <a:lstStyle/>
          <a:p>
            <a:r>
              <a:rPr lang="en-IN" sz="2400" b="1" u="sng" dirty="0" smtClean="0">
                <a:latin typeface="Book Antiqua" pitchFamily="18" charset="0"/>
              </a:rPr>
              <a:t>Problem Statement:</a:t>
            </a:r>
          </a:p>
          <a:p>
            <a:pPr algn="just"/>
            <a:r>
              <a:rPr lang="en-IN" sz="2000" dirty="0">
                <a:latin typeface="Book Antiqua" pitchFamily="18" charset="0"/>
              </a:rPr>
              <a:t>This project aims at automation and control of household appliance from a single point remotely.</a:t>
            </a:r>
            <a:r>
              <a:rPr lang="en-IN" sz="2400" dirty="0">
                <a:latin typeface="Book Antiqua" pitchFamily="18" charset="0"/>
              </a:rPr>
              <a:t> </a:t>
            </a:r>
            <a:endParaRPr lang="en-IN" sz="2400" b="1" u="sng" dirty="0">
              <a:latin typeface="Book Antiqua"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5720" y="1142984"/>
            <a:ext cx="8572592" cy="4154984"/>
          </a:xfrm>
          <a:prstGeom prst="rect">
            <a:avLst/>
          </a:prstGeom>
          <a:noFill/>
        </p:spPr>
        <p:txBody>
          <a:bodyPr wrap="square" rtlCol="0">
            <a:spAutoFit/>
          </a:bodyPr>
          <a:lstStyle/>
          <a:p>
            <a:r>
              <a:rPr lang="en-IN" sz="2400" b="1" u="sng" dirty="0" smtClean="0">
                <a:latin typeface="Book Antiqua" pitchFamily="18" charset="0"/>
              </a:rPr>
              <a:t>Scope:</a:t>
            </a:r>
            <a:endParaRPr lang="en-IN" sz="2000" dirty="0" smtClean="0">
              <a:latin typeface="Book Antiqua" pitchFamily="18" charset="0"/>
            </a:endParaRPr>
          </a:p>
          <a:p>
            <a:r>
              <a:rPr lang="en-IN" sz="2400" dirty="0"/>
              <a:t>Our proposed system is an Arduino based home automation system done with Arduino connected to a </a:t>
            </a:r>
            <a:r>
              <a:rPr lang="en-IN" sz="2400" dirty="0" smtClean="0"/>
              <a:t>sensor and it’s security system is implemented using Wi-</a:t>
            </a:r>
            <a:r>
              <a:rPr lang="en-IN" sz="2400" dirty="0" smtClean="0"/>
              <a:t>Fi facility that will be </a:t>
            </a:r>
            <a:r>
              <a:rPr lang="en-IN" sz="2400" dirty="0" smtClean="0"/>
              <a:t>controlled </a:t>
            </a:r>
            <a:r>
              <a:rPr lang="en-IN" sz="2400" dirty="0"/>
              <a:t>via android app. This system has two main modules: The hardware interface module and the software interface module. At the core of this system is the Arduino UNO microcontroller. All communication in this system passes through the microcontroller. It offers switching functionalities to control lighting, </a:t>
            </a:r>
            <a:r>
              <a:rPr lang="en-IN" sz="2400" dirty="0" smtClean="0"/>
              <a:t>fans</a:t>
            </a:r>
            <a:r>
              <a:rPr lang="en-IN" sz="2400" dirty="0"/>
              <a:t> and other home appliances connected to the relay system. </a:t>
            </a:r>
            <a:r>
              <a:rPr lang="en-IN" sz="2400" dirty="0" smtClean="0"/>
              <a:t>With </a:t>
            </a:r>
            <a:r>
              <a:rPr lang="en-IN" sz="2400" dirty="0"/>
              <a:t>this in mind, an </a:t>
            </a:r>
            <a:r>
              <a:rPr lang="en-IN" sz="2400" dirty="0" smtClean="0"/>
              <a:t>internet and sensor based</a:t>
            </a:r>
            <a:r>
              <a:rPr lang="en-IN" sz="2400" dirty="0"/>
              <a:t> home automation </a:t>
            </a:r>
            <a:r>
              <a:rPr lang="en-IN" sz="2400" dirty="0" smtClean="0"/>
              <a:t>system is </a:t>
            </a:r>
            <a:r>
              <a:rPr lang="en-IN" sz="2400" dirty="0"/>
              <a:t>designed. </a:t>
            </a:r>
            <a:endParaRPr lang="en-IN" sz="2400" dirty="0">
              <a:latin typeface="Book Antiqua"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0" y="0"/>
            <a:ext cx="9144000" cy="3429000"/>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a:stretch>
            <a:fillRect/>
          </a:stretch>
        </p:blipFill>
        <p:spPr bwMode="auto">
          <a:xfrm>
            <a:off x="0" y="3357562"/>
            <a:ext cx="9144000" cy="350043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7814" y="86916"/>
            <a:ext cx="9016186" cy="6771084"/>
          </a:xfrm>
          <a:prstGeom prst="rect">
            <a:avLst/>
          </a:prstGeom>
          <a:noFill/>
        </p:spPr>
        <p:txBody>
          <a:bodyPr wrap="none" rtlCol="0">
            <a:spAutoFit/>
          </a:bodyPr>
          <a:lstStyle/>
          <a:p>
            <a:r>
              <a:rPr lang="en-IN" b="1" u="sng" dirty="0" smtClean="0">
                <a:latin typeface="Bell MT" pitchFamily="18" charset="0"/>
              </a:rPr>
              <a:t>ARDUINO CODE: </a:t>
            </a:r>
            <a:r>
              <a:rPr lang="en-IN" b="1" dirty="0" smtClean="0">
                <a:latin typeface="Bell MT" pitchFamily="18" charset="0"/>
              </a:rPr>
              <a:t>(in circuit 1)</a:t>
            </a:r>
            <a:endParaRPr lang="en-IN" b="1" u="sng" dirty="0" smtClean="0">
              <a:latin typeface="Bell MT" pitchFamily="18" charset="0"/>
            </a:endParaRPr>
          </a:p>
          <a:p>
            <a:r>
              <a:rPr lang="en-IN" sz="1600" dirty="0" smtClean="0">
                <a:latin typeface="Bell MT" pitchFamily="18" charset="0"/>
              </a:rPr>
              <a:t>int Relay1=12;</a:t>
            </a:r>
          </a:p>
          <a:p>
            <a:r>
              <a:rPr lang="en-IN" sz="1600" dirty="0" smtClean="0">
                <a:latin typeface="Bell MT" pitchFamily="18" charset="0"/>
              </a:rPr>
              <a:t>int Relay2=13;</a:t>
            </a:r>
          </a:p>
          <a:p>
            <a:r>
              <a:rPr lang="en-IN" sz="1600" dirty="0" smtClean="0">
                <a:latin typeface="Bell MT" pitchFamily="18" charset="0"/>
              </a:rPr>
              <a:t>int pir_pin=7;</a:t>
            </a:r>
          </a:p>
          <a:p>
            <a:r>
              <a:rPr lang="en-IN" sz="1600" dirty="0" smtClean="0">
                <a:latin typeface="Bell MT" pitchFamily="18" charset="0"/>
              </a:rPr>
              <a:t>int value=0;</a:t>
            </a:r>
          </a:p>
          <a:p>
            <a:r>
              <a:rPr lang="en-IN" sz="1600" dirty="0" smtClean="0">
                <a:latin typeface="Bell MT" pitchFamily="18" charset="0"/>
              </a:rPr>
              <a:t>int pirState=LOW;</a:t>
            </a:r>
          </a:p>
          <a:p>
            <a:r>
              <a:rPr lang="en-IN" sz="1600" dirty="0" smtClean="0">
                <a:latin typeface="Bell MT" pitchFamily="18" charset="0"/>
              </a:rPr>
              <a:t>void setup()			</a:t>
            </a:r>
            <a:r>
              <a:rPr lang="en-IN" sz="1600" b="1" dirty="0" smtClean="0">
                <a:solidFill>
                  <a:schemeClr val="accent5">
                    <a:lumMod val="75000"/>
                  </a:schemeClr>
                </a:solidFill>
                <a:latin typeface="Bell MT" pitchFamily="18" charset="0"/>
              </a:rPr>
              <a:t>//acts as entry point</a:t>
            </a:r>
            <a:endParaRPr lang="en-IN" sz="1600" dirty="0" smtClean="0">
              <a:latin typeface="Bell MT" pitchFamily="18" charset="0"/>
            </a:endParaRPr>
          </a:p>
          <a:p>
            <a:r>
              <a:rPr lang="en-IN" sz="1600" dirty="0" smtClean="0">
                <a:latin typeface="Bell MT" pitchFamily="18" charset="0"/>
              </a:rPr>
              <a:t>{</a:t>
            </a:r>
          </a:p>
          <a:p>
            <a:r>
              <a:rPr lang="en-IN" sz="1600" dirty="0" smtClean="0">
                <a:latin typeface="Bell MT" pitchFamily="18" charset="0"/>
              </a:rPr>
              <a:t>	pinMode(Relay1,OUTPUT);	</a:t>
            </a:r>
            <a:r>
              <a:rPr lang="en-IN" sz="1600" dirty="0" smtClean="0">
                <a:solidFill>
                  <a:srgbClr val="FF0000"/>
                </a:solidFill>
                <a:latin typeface="Bell MT" pitchFamily="18" charset="0"/>
              </a:rPr>
              <a:t>//to configure behaviour of a specific pin</a:t>
            </a:r>
          </a:p>
          <a:p>
            <a:r>
              <a:rPr lang="en-IN" sz="1600" dirty="0" smtClean="0">
                <a:latin typeface="Bell MT" pitchFamily="18" charset="0"/>
              </a:rPr>
              <a:t>	pinMode(Relay2,OUTPUT);</a:t>
            </a:r>
          </a:p>
          <a:p>
            <a:r>
              <a:rPr lang="en-IN" sz="1600" dirty="0" smtClean="0">
                <a:latin typeface="Bell MT" pitchFamily="18" charset="0"/>
              </a:rPr>
              <a:t>	pinMode(pir_pin,INPUT);</a:t>
            </a:r>
          </a:p>
          <a:p>
            <a:r>
              <a:rPr lang="en-IN" sz="1600" dirty="0" smtClean="0">
                <a:latin typeface="Bell MT" pitchFamily="18" charset="0"/>
              </a:rPr>
              <a:t>	Serial.begin(9600);		</a:t>
            </a:r>
            <a:r>
              <a:rPr lang="en-IN" sz="1600" dirty="0" smtClean="0">
                <a:solidFill>
                  <a:srgbClr val="FF0000"/>
                </a:solidFill>
                <a:latin typeface="Bell MT" pitchFamily="18" charset="0"/>
              </a:rPr>
              <a:t>//passes value to speed parameter tells arduino tells arduino </a:t>
            </a:r>
          </a:p>
          <a:p>
            <a:r>
              <a:rPr lang="en-IN" sz="1600" dirty="0" smtClean="0">
                <a:solidFill>
                  <a:srgbClr val="FF0000"/>
                </a:solidFill>
                <a:latin typeface="Bell MT" pitchFamily="18" charset="0"/>
              </a:rPr>
              <a:t>				to get ready to exchange message with serial monitor at data </a:t>
            </a:r>
          </a:p>
          <a:p>
            <a:r>
              <a:rPr lang="en-IN" sz="1600" dirty="0" smtClean="0">
                <a:solidFill>
                  <a:srgbClr val="FF0000"/>
                </a:solidFill>
                <a:latin typeface="Bell MT" pitchFamily="18" charset="0"/>
              </a:rPr>
              <a:t>				rate of 9600 bits per second.</a:t>
            </a:r>
            <a:endParaRPr lang="en-IN" sz="1600" dirty="0" smtClean="0">
              <a:latin typeface="Bell MT" pitchFamily="18" charset="0"/>
            </a:endParaRPr>
          </a:p>
          <a:p>
            <a:r>
              <a:rPr lang="en-IN" sz="1600" dirty="0" smtClean="0">
                <a:latin typeface="Bell MT" pitchFamily="18" charset="0"/>
              </a:rPr>
              <a:t>}</a:t>
            </a:r>
          </a:p>
          <a:p>
            <a:r>
              <a:rPr lang="en-IN" sz="1600" dirty="0" smtClean="0">
                <a:latin typeface="Bell MT" pitchFamily="18" charset="0"/>
              </a:rPr>
              <a:t>void loop()				</a:t>
            </a:r>
            <a:r>
              <a:rPr lang="en-IN" sz="1600" b="1" dirty="0" smtClean="0">
                <a:solidFill>
                  <a:schemeClr val="accent5">
                    <a:lumMod val="75000"/>
                  </a:schemeClr>
                </a:solidFill>
                <a:latin typeface="Bell MT" pitchFamily="18" charset="0"/>
              </a:rPr>
              <a:t>//runs over and over</a:t>
            </a:r>
            <a:endParaRPr lang="en-IN" sz="1600" dirty="0" smtClean="0">
              <a:latin typeface="Bell MT" pitchFamily="18" charset="0"/>
            </a:endParaRPr>
          </a:p>
          <a:p>
            <a:r>
              <a:rPr lang="en-IN" sz="1600" dirty="0" smtClean="0">
                <a:latin typeface="Bell MT" pitchFamily="18" charset="0"/>
              </a:rPr>
              <a:t>{</a:t>
            </a:r>
          </a:p>
          <a:p>
            <a:r>
              <a:rPr lang="en-IN" sz="1600" dirty="0" smtClean="0">
                <a:latin typeface="Bell MT" pitchFamily="18" charset="0"/>
              </a:rPr>
              <a:t>	value=</a:t>
            </a:r>
            <a:r>
              <a:rPr lang="en-IN" sz="1600" dirty="0" err="1" smtClean="0">
                <a:latin typeface="Bell MT" pitchFamily="18" charset="0"/>
              </a:rPr>
              <a:t>digitalRead</a:t>
            </a:r>
            <a:r>
              <a:rPr lang="en-IN" sz="1600" dirty="0" smtClean="0">
                <a:latin typeface="Bell MT" pitchFamily="18" charset="0"/>
              </a:rPr>
              <a:t>(pir_pin);	</a:t>
            </a:r>
            <a:r>
              <a:rPr lang="en-IN" sz="1600" dirty="0" smtClean="0">
                <a:solidFill>
                  <a:srgbClr val="FF0000"/>
                </a:solidFill>
                <a:latin typeface="Bell MT" pitchFamily="18" charset="0"/>
              </a:rPr>
              <a:t>//reads values from specified pin</a:t>
            </a:r>
            <a:endParaRPr lang="en-IN" sz="1600" dirty="0" smtClean="0">
              <a:latin typeface="Bell MT" pitchFamily="18" charset="0"/>
            </a:endParaRPr>
          </a:p>
          <a:p>
            <a:r>
              <a:rPr lang="en-IN" sz="1600" dirty="0" smtClean="0">
                <a:latin typeface="Bell MT" pitchFamily="18" charset="0"/>
              </a:rPr>
              <a:t>	if(value==HIGH){</a:t>
            </a:r>
          </a:p>
          <a:p>
            <a:r>
              <a:rPr lang="en-IN" sz="1600" dirty="0" smtClean="0">
                <a:latin typeface="Bell MT" pitchFamily="18" charset="0"/>
              </a:rPr>
              <a:t>		digitalWrite(Relay1,HIGH);</a:t>
            </a:r>
          </a:p>
          <a:p>
            <a:r>
              <a:rPr lang="en-IN" sz="1600" dirty="0" smtClean="0">
                <a:latin typeface="Bell MT" pitchFamily="18" charset="0"/>
              </a:rPr>
              <a:t>		digitalWrite(Relay2,HIGH);</a:t>
            </a:r>
          </a:p>
          <a:p>
            <a:r>
              <a:rPr lang="en-IN" sz="1600" dirty="0" smtClean="0">
                <a:latin typeface="Bell MT" pitchFamily="18" charset="0"/>
              </a:rPr>
              <a:t>	}</a:t>
            </a:r>
          </a:p>
          <a:p>
            <a:r>
              <a:rPr lang="en-IN" sz="1600" dirty="0" smtClean="0">
                <a:latin typeface="Bell MT" pitchFamily="18" charset="0"/>
              </a:rPr>
              <a:t>	else{</a:t>
            </a:r>
          </a:p>
          <a:p>
            <a:r>
              <a:rPr lang="en-IN" sz="1600" dirty="0" smtClean="0">
                <a:latin typeface="Bell MT" pitchFamily="18" charset="0"/>
              </a:rPr>
              <a:t>		digitalWrite(Relay1,LOW);</a:t>
            </a:r>
          </a:p>
          <a:p>
            <a:r>
              <a:rPr lang="en-IN" sz="1600" dirty="0" smtClean="0">
                <a:latin typeface="Bell MT" pitchFamily="18" charset="0"/>
              </a:rPr>
              <a:t>		digitalWrite(Relay2,LOW);</a:t>
            </a:r>
          </a:p>
          <a:p>
            <a:r>
              <a:rPr lang="en-IN" sz="1600" dirty="0" smtClean="0">
                <a:latin typeface="Bell MT" pitchFamily="18" charset="0"/>
              </a:rPr>
              <a:t>	}</a:t>
            </a:r>
          </a:p>
          <a:p>
            <a:r>
              <a:rPr lang="en-IN" sz="1600" dirty="0" smtClean="0">
                <a:latin typeface="Bell MT" pitchFamily="18" charset="0"/>
              </a:rPr>
              <a:t>}</a:t>
            </a:r>
            <a:endParaRPr lang="en-IN" sz="1600" dirty="0">
              <a:latin typeface="Bell MT" pitchFamily="18" charset="0"/>
            </a:endParaRPr>
          </a:p>
        </p:txBody>
      </p:sp>
      <p:sp>
        <p:nvSpPr>
          <p:cNvPr id="3" name="Oval 2"/>
          <p:cNvSpPr/>
          <p:nvPr/>
        </p:nvSpPr>
        <p:spPr>
          <a:xfrm>
            <a:off x="7572396" y="142852"/>
            <a:ext cx="1000132" cy="428628"/>
          </a:xfrm>
          <a:prstGeom prst="ellipse">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IN" dirty="0" smtClean="0"/>
              <a:t>Start</a:t>
            </a:r>
            <a:endParaRPr lang="en-IN" dirty="0"/>
          </a:p>
        </p:txBody>
      </p:sp>
      <p:sp>
        <p:nvSpPr>
          <p:cNvPr id="4" name="TextBox 3"/>
          <p:cNvSpPr txBox="1"/>
          <p:nvPr/>
        </p:nvSpPr>
        <p:spPr>
          <a:xfrm>
            <a:off x="8643966" y="0"/>
            <a:ext cx="285752" cy="2585323"/>
          </a:xfrm>
          <a:prstGeom prst="rect">
            <a:avLst/>
          </a:prstGeom>
          <a:noFill/>
        </p:spPr>
        <p:txBody>
          <a:bodyPr wrap="square" rtlCol="0">
            <a:spAutoFit/>
          </a:bodyPr>
          <a:lstStyle/>
          <a:p>
            <a:pPr algn="just"/>
            <a:r>
              <a:rPr lang="en-IN" b="1" dirty="0" smtClean="0">
                <a:effectLst>
                  <a:outerShdw blurRad="38100" dist="38100" dir="2700000" algn="tl">
                    <a:srgbClr val="000000">
                      <a:alpha val="43137"/>
                    </a:srgbClr>
                  </a:outerShdw>
                </a:effectLst>
              </a:rPr>
              <a:t>CODE FLOW</a:t>
            </a:r>
            <a:endParaRPr lang="en-IN" b="1" dirty="0">
              <a:effectLst>
                <a:outerShdw blurRad="38100" dist="38100" dir="2700000" algn="tl">
                  <a:srgbClr val="000000">
                    <a:alpha val="43137"/>
                  </a:srgbClr>
                </a:outerShdw>
              </a:effectLst>
            </a:endParaRPr>
          </a:p>
        </p:txBody>
      </p:sp>
      <p:sp>
        <p:nvSpPr>
          <p:cNvPr id="5" name="Rectangle 4"/>
          <p:cNvSpPr/>
          <p:nvPr/>
        </p:nvSpPr>
        <p:spPr>
          <a:xfrm>
            <a:off x="7643834" y="857232"/>
            <a:ext cx="928694" cy="428628"/>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IN" dirty="0" smtClean="0"/>
              <a:t>Setup()</a:t>
            </a:r>
            <a:endParaRPr lang="en-IN" dirty="0"/>
          </a:p>
        </p:txBody>
      </p:sp>
      <p:sp>
        <p:nvSpPr>
          <p:cNvPr id="6" name="Rectangle 5"/>
          <p:cNvSpPr/>
          <p:nvPr/>
        </p:nvSpPr>
        <p:spPr>
          <a:xfrm>
            <a:off x="7643834" y="1571612"/>
            <a:ext cx="928694" cy="428628"/>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IN" dirty="0" smtClean="0"/>
              <a:t>loop()</a:t>
            </a:r>
            <a:endParaRPr lang="en-IN" dirty="0"/>
          </a:p>
        </p:txBody>
      </p:sp>
      <p:cxnSp>
        <p:nvCxnSpPr>
          <p:cNvPr id="13" name="Straight Arrow Connector 12"/>
          <p:cNvCxnSpPr>
            <a:stCxn id="5" idx="2"/>
            <a:endCxn id="6" idx="0"/>
          </p:cNvCxnSpPr>
          <p:nvPr/>
        </p:nvCxnSpPr>
        <p:spPr>
          <a:xfrm rot="5400000">
            <a:off x="7965305" y="1428736"/>
            <a:ext cx="28575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3" idx="4"/>
            <a:endCxn id="5" idx="0"/>
          </p:cNvCxnSpPr>
          <p:nvPr/>
        </p:nvCxnSpPr>
        <p:spPr>
          <a:xfrm rot="16200000" flipH="1">
            <a:off x="7947445" y="696496"/>
            <a:ext cx="285752" cy="3571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0"/>
            <a:ext cx="9001156" cy="6858000"/>
          </a:xfrm>
          <a:prstGeom prst="rect">
            <a:avLst/>
          </a:prstGeom>
          <a:noFill/>
        </p:spPr>
        <p:txBody>
          <a:bodyPr wrap="square" rtlCol="0">
            <a:spAutoFit/>
          </a:bodyPr>
          <a:lstStyle/>
          <a:p>
            <a:pPr>
              <a:buFont typeface="Courier New" pitchFamily="49" charset="0"/>
              <a:buChar char="o"/>
            </a:pPr>
            <a:r>
              <a:rPr lang="en-IN" b="1" u="sng" dirty="0" smtClean="0">
                <a:latin typeface="Bell MT" pitchFamily="18" charset="0"/>
              </a:rPr>
              <a:t>  Arduino UNO</a:t>
            </a:r>
          </a:p>
          <a:p>
            <a:r>
              <a:rPr lang="en-IN" sz="1600" dirty="0" smtClean="0">
                <a:latin typeface="Bell MT" pitchFamily="18" charset="0"/>
              </a:rPr>
              <a:t>This component is coded using C++/C language using Arduino IDE Software. Uploaded code defines the working of whole system like what should we do with read input and where to proceed on a particular output etc. </a:t>
            </a:r>
            <a:endParaRPr lang="en-IN" sz="1600" dirty="0" smtClean="0"/>
          </a:p>
          <a:p>
            <a:r>
              <a:rPr lang="en-IN" sz="1600" dirty="0" smtClean="0">
                <a:latin typeface="Bell MT" pitchFamily="18" charset="0"/>
              </a:rPr>
              <a:t>It consist of:-</a:t>
            </a:r>
          </a:p>
          <a:p>
            <a:pPr marL="342900" indent="-342900">
              <a:buFont typeface="+mj-lt"/>
              <a:buAutoNum type="arabicPeriod"/>
            </a:pPr>
            <a:r>
              <a:rPr lang="en-IN" sz="1600" b="1" dirty="0" smtClean="0">
                <a:latin typeface="Bell MT" pitchFamily="18" charset="0"/>
              </a:rPr>
              <a:t>Atmega 328 </a:t>
            </a:r>
            <a:r>
              <a:rPr lang="en-IN" sz="1600" dirty="0" smtClean="0">
                <a:latin typeface="Bell MT" pitchFamily="18" charset="0"/>
              </a:rPr>
              <a:t>Microcontroller chip</a:t>
            </a:r>
          </a:p>
          <a:p>
            <a:pPr marL="342900" indent="-342900">
              <a:buFont typeface="+mj-lt"/>
              <a:buAutoNum type="arabicPeriod"/>
            </a:pPr>
            <a:r>
              <a:rPr lang="en-IN" sz="1600" b="1" dirty="0" smtClean="0">
                <a:latin typeface="Bell MT" pitchFamily="18" charset="0"/>
              </a:rPr>
              <a:t>TX(0)/RX(1) pins </a:t>
            </a:r>
            <a:r>
              <a:rPr lang="en-IN" sz="1600" dirty="0" smtClean="0">
                <a:latin typeface="Bell MT" pitchFamily="18" charset="0"/>
              </a:rPr>
              <a:t>to send &amp; receive data from GPS Bluetooth or Wi-Fi module.</a:t>
            </a:r>
          </a:p>
          <a:p>
            <a:pPr marL="342900" indent="-342900">
              <a:buFont typeface="+mj-lt"/>
              <a:buAutoNum type="arabicPeriod"/>
            </a:pPr>
            <a:r>
              <a:rPr lang="en-IN" sz="1600" b="1" dirty="0" smtClean="0">
                <a:latin typeface="Bell MT" pitchFamily="18" charset="0"/>
              </a:rPr>
              <a:t>Digital Pins(0-13) </a:t>
            </a:r>
            <a:r>
              <a:rPr lang="en-IN" sz="1600" dirty="0" smtClean="0">
                <a:latin typeface="Bell MT" pitchFamily="18" charset="0"/>
              </a:rPr>
              <a:t>to connect output LCD/LED/Relay Modules etc.</a:t>
            </a:r>
          </a:p>
          <a:p>
            <a:pPr marL="342900" indent="-342900">
              <a:buFont typeface="+mj-lt"/>
              <a:buAutoNum type="arabicPeriod"/>
            </a:pPr>
            <a:r>
              <a:rPr lang="en-IN" sz="1600" b="1" dirty="0" smtClean="0">
                <a:latin typeface="Bell MT" pitchFamily="18" charset="0"/>
              </a:rPr>
              <a:t>Analog Pins(A1-A6) </a:t>
            </a:r>
            <a:r>
              <a:rPr lang="en-IN" sz="1600" dirty="0" smtClean="0">
                <a:latin typeface="Bell MT" pitchFamily="18" charset="0"/>
              </a:rPr>
              <a:t>to connect input (sensors)</a:t>
            </a:r>
          </a:p>
          <a:p>
            <a:pPr marL="342900" indent="-342900">
              <a:buFont typeface="+mj-lt"/>
              <a:buAutoNum type="arabicPeriod"/>
            </a:pPr>
            <a:r>
              <a:rPr lang="en-IN" sz="1600" b="1" dirty="0" smtClean="0">
                <a:latin typeface="Bell MT" pitchFamily="18" charset="0"/>
              </a:rPr>
              <a:t>Power Supply </a:t>
            </a:r>
            <a:r>
              <a:rPr lang="en-IN" sz="1600" dirty="0" smtClean="0">
                <a:latin typeface="Bell MT" pitchFamily="18" charset="0"/>
              </a:rPr>
              <a:t>for input &amp; output components</a:t>
            </a:r>
          </a:p>
          <a:p>
            <a:pPr marL="342900" indent="-342900">
              <a:buFont typeface="+mj-lt"/>
              <a:buAutoNum type="arabicPeriod"/>
            </a:pPr>
            <a:r>
              <a:rPr lang="en-IN" sz="1600" b="1" dirty="0" smtClean="0">
                <a:latin typeface="Bell MT" pitchFamily="18" charset="0"/>
              </a:rPr>
              <a:t>Power Jack </a:t>
            </a:r>
            <a:r>
              <a:rPr lang="en-IN" sz="1600" dirty="0" smtClean="0">
                <a:latin typeface="Bell MT" pitchFamily="18" charset="0"/>
              </a:rPr>
              <a:t>to give power to Arduino</a:t>
            </a:r>
          </a:p>
          <a:p>
            <a:pPr marL="342900" indent="-342900">
              <a:buFont typeface="+mj-lt"/>
              <a:buAutoNum type="arabicPeriod"/>
            </a:pPr>
            <a:r>
              <a:rPr lang="en-IN" sz="1600" b="1" dirty="0" smtClean="0">
                <a:latin typeface="Bell MT" pitchFamily="18" charset="0"/>
              </a:rPr>
              <a:t>Reset Button </a:t>
            </a:r>
            <a:r>
              <a:rPr lang="en-IN" sz="1600" dirty="0" smtClean="0">
                <a:latin typeface="Bell MT" pitchFamily="18" charset="0"/>
              </a:rPr>
              <a:t>to restart Arduino code</a:t>
            </a:r>
          </a:p>
          <a:p>
            <a:pPr marL="342900" indent="-342900">
              <a:buFont typeface="+mj-lt"/>
              <a:buAutoNum type="arabicPeriod"/>
            </a:pPr>
            <a:r>
              <a:rPr lang="en-IN" sz="1600" b="1" dirty="0" smtClean="0">
                <a:latin typeface="Bell MT" pitchFamily="18" charset="0"/>
              </a:rPr>
              <a:t>5V pin </a:t>
            </a:r>
            <a:r>
              <a:rPr lang="en-IN" sz="1600" dirty="0" smtClean="0">
                <a:latin typeface="Bell MT" pitchFamily="18" charset="0"/>
              </a:rPr>
              <a:t>when component needs 5V power</a:t>
            </a:r>
          </a:p>
          <a:p>
            <a:pPr marL="342900" indent="-342900">
              <a:buFont typeface="+mj-lt"/>
              <a:buAutoNum type="arabicPeriod"/>
            </a:pPr>
            <a:r>
              <a:rPr lang="en-IN" sz="1600" b="1" dirty="0" smtClean="0">
                <a:latin typeface="Bell MT" pitchFamily="18" charset="0"/>
              </a:rPr>
              <a:t>3.3V pin</a:t>
            </a:r>
            <a:r>
              <a:rPr lang="en-IN" sz="1600" dirty="0" smtClean="0">
                <a:latin typeface="Bell MT" pitchFamily="18" charset="0"/>
              </a:rPr>
              <a:t> when component needs 3.3V power</a:t>
            </a:r>
          </a:p>
          <a:p>
            <a:pPr marL="342900" indent="-342900">
              <a:buFont typeface="+mj-lt"/>
              <a:buAutoNum type="arabicPeriod"/>
            </a:pPr>
            <a:r>
              <a:rPr lang="en-IN" sz="1600" b="1" dirty="0" smtClean="0">
                <a:latin typeface="Bell MT" pitchFamily="18" charset="0"/>
              </a:rPr>
              <a:t>GND </a:t>
            </a:r>
            <a:r>
              <a:rPr lang="en-IN" sz="1600" dirty="0" smtClean="0">
                <a:latin typeface="Bell MT" pitchFamily="18" charset="0"/>
              </a:rPr>
              <a:t>to ground the circuit</a:t>
            </a:r>
            <a:endParaRPr lang="en-IN" sz="1600" dirty="0" smtClean="0"/>
          </a:p>
          <a:p>
            <a:r>
              <a:rPr lang="en-IN" sz="1600" u="sng" dirty="0" smtClean="0">
                <a:latin typeface="Bell MT" pitchFamily="18" charset="0"/>
              </a:rPr>
              <a:t>Limitations:-</a:t>
            </a:r>
          </a:p>
          <a:p>
            <a:pPr marL="342900" indent="-342900">
              <a:buFont typeface="+mj-lt"/>
              <a:buAutoNum type="arabicPeriod"/>
            </a:pPr>
            <a:r>
              <a:rPr lang="en-IN" sz="1600" dirty="0" smtClean="0">
                <a:latin typeface="Bell MT" pitchFamily="18" charset="0"/>
              </a:rPr>
              <a:t>I/O pins are limited to 40 mA current before get damaged. Suggested 20 mA.</a:t>
            </a:r>
          </a:p>
          <a:p>
            <a:pPr marL="342900" indent="-342900">
              <a:buFont typeface="+mj-lt"/>
              <a:buAutoNum type="arabicPeriod"/>
            </a:pPr>
            <a:r>
              <a:rPr lang="en-IN" sz="1600" dirty="0" smtClean="0">
                <a:latin typeface="Bell MT" pitchFamily="18" charset="0"/>
              </a:rPr>
              <a:t>VCC &amp; GND pins of AtMega328 chip limited to 200mA total. So, it means that 10 I/O pins could run at a time with 20mA per I/O. But, actually could run only 9 pins at a time because need some amount of current for rest of the chip.</a:t>
            </a:r>
          </a:p>
          <a:p>
            <a:pPr marL="342900" indent="-342900"/>
            <a:endParaRPr lang="en-IN" sz="1600" dirty="0" smtClean="0">
              <a:latin typeface="Bell MT" pitchFamily="18" charset="0"/>
            </a:endParaRPr>
          </a:p>
          <a:p>
            <a:pPr marL="342900" indent="-342900">
              <a:buFont typeface="Arial" pitchFamily="34" charset="0"/>
              <a:buChar char="•"/>
            </a:pPr>
            <a:r>
              <a:rPr lang="en-IN" sz="1600" b="1" dirty="0" smtClean="0">
                <a:latin typeface="Bell MT" pitchFamily="18" charset="0"/>
              </a:rPr>
              <a:t>Operating Voltage:</a:t>
            </a:r>
            <a:r>
              <a:rPr lang="en-IN" sz="1600" dirty="0" smtClean="0">
                <a:latin typeface="Bell MT" pitchFamily="18" charset="0"/>
              </a:rPr>
              <a:t> 5 Volts</a:t>
            </a:r>
          </a:p>
          <a:p>
            <a:pPr marL="342900" indent="-342900">
              <a:buFont typeface="Arial" pitchFamily="34" charset="0"/>
              <a:buChar char="•"/>
            </a:pPr>
            <a:r>
              <a:rPr lang="en-IN" sz="1600" b="1" dirty="0" smtClean="0">
                <a:latin typeface="Bell MT" pitchFamily="18" charset="0"/>
              </a:rPr>
              <a:t>Input Voltage:</a:t>
            </a:r>
            <a:r>
              <a:rPr lang="en-IN" sz="1600" dirty="0" smtClean="0">
                <a:latin typeface="Bell MT" pitchFamily="18" charset="0"/>
              </a:rPr>
              <a:t> 6-20 Volts</a:t>
            </a:r>
          </a:p>
          <a:p>
            <a:pPr marL="342900" indent="-342900">
              <a:buFont typeface="Arial" pitchFamily="34" charset="0"/>
              <a:buChar char="•"/>
            </a:pPr>
            <a:r>
              <a:rPr lang="en-IN" sz="1600" b="1" dirty="0" smtClean="0">
                <a:latin typeface="Bell MT" pitchFamily="18" charset="0"/>
              </a:rPr>
              <a:t>Digital I/O Pins DC current:</a:t>
            </a:r>
            <a:r>
              <a:rPr lang="en-IN" sz="1600" dirty="0" smtClean="0">
                <a:latin typeface="Bell MT" pitchFamily="18" charset="0"/>
              </a:rPr>
              <a:t> 40 mA</a:t>
            </a:r>
            <a:endParaRPr lang="en-IN" sz="1600" b="1" dirty="0" smtClean="0">
              <a:latin typeface="Bell MT" pitchFamily="18" charset="0"/>
            </a:endParaRPr>
          </a:p>
          <a:p>
            <a:pPr marL="342900" indent="-342900">
              <a:buFont typeface="Arial" pitchFamily="34" charset="0"/>
              <a:buChar char="•"/>
            </a:pPr>
            <a:r>
              <a:rPr lang="en-IN" sz="1600" b="1" dirty="0" smtClean="0">
                <a:latin typeface="Bell MT" pitchFamily="18" charset="0"/>
              </a:rPr>
              <a:t>3.3 V Pin DC current:</a:t>
            </a:r>
            <a:r>
              <a:rPr lang="en-IN" sz="1600" dirty="0" smtClean="0">
                <a:latin typeface="Bell MT" pitchFamily="18" charset="0"/>
              </a:rPr>
              <a:t> 50 mA</a:t>
            </a:r>
          </a:p>
          <a:p>
            <a:pPr marL="342900" indent="-342900">
              <a:buFont typeface="Arial" pitchFamily="34" charset="0"/>
              <a:buChar char="•"/>
            </a:pPr>
            <a:r>
              <a:rPr lang="en-IN" sz="1600" b="1" dirty="0" smtClean="0">
                <a:latin typeface="Bell MT" pitchFamily="18" charset="0"/>
              </a:rPr>
              <a:t>Clock Speed:</a:t>
            </a:r>
            <a:r>
              <a:rPr lang="en-IN" sz="1600" dirty="0" smtClean="0">
                <a:latin typeface="Bell MT" pitchFamily="18" charset="0"/>
              </a:rPr>
              <a:t> 16 MHz</a:t>
            </a:r>
          </a:p>
          <a:p>
            <a:pPr marL="342900" indent="-342900">
              <a:buFont typeface="Arial" pitchFamily="34" charset="0"/>
              <a:buChar char="•"/>
            </a:pPr>
            <a:r>
              <a:rPr lang="en-IN" sz="1600" b="1" dirty="0" smtClean="0">
                <a:latin typeface="Bell MT" pitchFamily="18" charset="0"/>
              </a:rPr>
              <a:t>Flash Memory (non-volatile memory):</a:t>
            </a:r>
            <a:r>
              <a:rPr lang="en-IN" sz="1600" dirty="0" smtClean="0">
                <a:latin typeface="Bell MT" pitchFamily="18" charset="0"/>
              </a:rPr>
              <a:t> 32 KB</a:t>
            </a:r>
            <a:endParaRPr lang="en-IN" sz="1600" b="1" dirty="0" smtClean="0">
              <a:latin typeface="Bell MT"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2845" y="142852"/>
            <a:ext cx="8786873" cy="4832092"/>
          </a:xfrm>
          <a:prstGeom prst="rect">
            <a:avLst/>
          </a:prstGeom>
          <a:noFill/>
        </p:spPr>
        <p:txBody>
          <a:bodyPr wrap="square" rtlCol="0">
            <a:spAutoFit/>
          </a:bodyPr>
          <a:lstStyle/>
          <a:p>
            <a:pPr>
              <a:buFont typeface="Courier New" pitchFamily="49" charset="0"/>
              <a:buChar char="o"/>
            </a:pPr>
            <a:r>
              <a:rPr lang="en-IN" b="1" u="sng" dirty="0" smtClean="0">
                <a:latin typeface="Bell MT" pitchFamily="18" charset="0"/>
              </a:rPr>
              <a:t> PIR Sensor</a:t>
            </a:r>
          </a:p>
          <a:p>
            <a:endParaRPr lang="en-IN" b="1" u="sng" dirty="0" smtClean="0">
              <a:latin typeface="Bell MT" pitchFamily="18" charset="0"/>
            </a:endParaRPr>
          </a:p>
          <a:p>
            <a:r>
              <a:rPr lang="en-IN" sz="1600" dirty="0" smtClean="0">
                <a:latin typeface="Bell MT" pitchFamily="18" charset="0"/>
              </a:rPr>
              <a:t>This is an electronic motion sensor that measures infrared lights radiating from objects. It sense motion in terms of heat &amp; light. Ideally suited where a defined detection pattern is required like rooms. It is covered with </a:t>
            </a:r>
            <a:r>
              <a:rPr lang="en-IN" sz="1600" b="1" dirty="0" smtClean="0">
                <a:latin typeface="Bell MT" pitchFamily="18" charset="0"/>
              </a:rPr>
              <a:t>Fresnel Lens</a:t>
            </a:r>
            <a:r>
              <a:rPr lang="en-IN" sz="1600" dirty="0" smtClean="0">
                <a:latin typeface="Bell MT" pitchFamily="18" charset="0"/>
              </a:rPr>
              <a:t> which is used as focusing system for infrared radiations. This sensor has 3 pins for connections:-</a:t>
            </a:r>
          </a:p>
          <a:p>
            <a:pPr marL="342900" indent="-342900">
              <a:buFont typeface="+mj-lt"/>
              <a:buAutoNum type="arabicPeriod"/>
            </a:pPr>
            <a:r>
              <a:rPr lang="en-IN" sz="1600" b="1" dirty="0" smtClean="0">
                <a:latin typeface="Bell MT" pitchFamily="18" charset="0"/>
              </a:rPr>
              <a:t>VCC (Voltage at Common Collector) Pin </a:t>
            </a:r>
            <a:r>
              <a:rPr lang="en-IN" sz="1600" dirty="0" smtClean="0">
                <a:latin typeface="Bell MT" pitchFamily="18" charset="0"/>
              </a:rPr>
              <a:t>corresponding to drain terminal of device &amp; connected to the +ve supply of 5V DC</a:t>
            </a:r>
          </a:p>
          <a:p>
            <a:pPr marL="342900" indent="-342900">
              <a:buFont typeface="+mj-lt"/>
              <a:buAutoNum type="arabicPeriod"/>
            </a:pPr>
            <a:r>
              <a:rPr lang="en-IN" sz="1600" b="1" dirty="0" smtClean="0">
                <a:latin typeface="Bell MT" pitchFamily="18" charset="0"/>
              </a:rPr>
              <a:t>OUT(Output) Pin</a:t>
            </a:r>
            <a:r>
              <a:rPr lang="en-IN" sz="1600" dirty="0" smtClean="0">
                <a:latin typeface="Bell MT" pitchFamily="18" charset="0"/>
              </a:rPr>
              <a:t> corresponding to source terminal of device that carries detected IR signals to amplifier.</a:t>
            </a:r>
          </a:p>
          <a:p>
            <a:pPr marL="342900" indent="-342900">
              <a:buFont typeface="+mj-lt"/>
              <a:buAutoNum type="arabicPeriod"/>
            </a:pPr>
            <a:r>
              <a:rPr lang="en-IN" sz="1600" b="1" dirty="0" smtClean="0">
                <a:latin typeface="Bell MT" pitchFamily="18" charset="0"/>
              </a:rPr>
              <a:t>GND(Ground) Pin</a:t>
            </a:r>
            <a:r>
              <a:rPr lang="en-IN" sz="1600" dirty="0" smtClean="0">
                <a:latin typeface="Bell MT" pitchFamily="18" charset="0"/>
              </a:rPr>
              <a:t> connected to ground</a:t>
            </a:r>
          </a:p>
          <a:p>
            <a:pPr marL="342900" indent="-342900">
              <a:buFont typeface="+mj-lt"/>
              <a:buAutoNum type="arabicPeriod"/>
            </a:pPr>
            <a:endParaRPr lang="en-IN" sz="1600" b="1" dirty="0" smtClean="0">
              <a:latin typeface="Bell MT" pitchFamily="18" charset="0"/>
            </a:endParaRPr>
          </a:p>
          <a:p>
            <a:pPr marL="342900" indent="-342900"/>
            <a:r>
              <a:rPr lang="en-IN" sz="1600" u="sng" dirty="0" smtClean="0">
                <a:latin typeface="Bell MT" pitchFamily="18" charset="0"/>
              </a:rPr>
              <a:t>Limitations</a:t>
            </a:r>
            <a:r>
              <a:rPr lang="en-IN" sz="1600" b="1" dirty="0" smtClean="0">
                <a:latin typeface="Bell MT" pitchFamily="18" charset="0"/>
              </a:rPr>
              <a:t>:-</a:t>
            </a:r>
          </a:p>
          <a:p>
            <a:pPr marL="342900" indent="-342900">
              <a:buFont typeface="+mj-lt"/>
              <a:buAutoNum type="arabicPeriod"/>
            </a:pPr>
            <a:r>
              <a:rPr lang="en-IN" sz="1600" dirty="0" smtClean="0">
                <a:latin typeface="Bell MT" pitchFamily="18" charset="0"/>
              </a:rPr>
              <a:t>It has lower sensitivity &amp; less coverage as compared to microwave sensors. (But, here can’t use microwave sensor because these sensors can see through walls, glasses and plastic. So, unsuitable for closed areas)</a:t>
            </a:r>
          </a:p>
          <a:p>
            <a:pPr marL="342900" indent="-342900">
              <a:buFont typeface="+mj-lt"/>
              <a:buAutoNum type="arabicPeriod"/>
            </a:pPr>
            <a:r>
              <a:rPr lang="en-IN" sz="1600" dirty="0" smtClean="0">
                <a:latin typeface="Bell MT" pitchFamily="18" charset="0"/>
              </a:rPr>
              <a:t>Working problems in corner regions. So, should be ideally placed.</a:t>
            </a:r>
          </a:p>
          <a:p>
            <a:pPr marL="342900" indent="-342900">
              <a:buFont typeface="+mj-lt"/>
              <a:buAutoNum type="arabicPeriod"/>
            </a:pPr>
            <a:r>
              <a:rPr lang="en-IN" sz="1600" dirty="0" smtClean="0">
                <a:latin typeface="Bell MT" pitchFamily="18" charset="0"/>
              </a:rPr>
              <a:t>It doesn’t operate in environments with temperature &gt; 35 degree C</a:t>
            </a:r>
          </a:p>
          <a:p>
            <a:pPr marL="342900" indent="-342900">
              <a:buFont typeface="+mj-lt"/>
              <a:buAutoNum type="arabicPeriod"/>
            </a:pPr>
            <a:r>
              <a:rPr lang="en-IN" sz="1600" dirty="0" smtClean="0">
                <a:latin typeface="Bell MT" pitchFamily="18" charset="0"/>
              </a:rPr>
              <a:t>It’s insensitive to very slow motions.</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2845" y="142852"/>
            <a:ext cx="8786873" cy="4093428"/>
          </a:xfrm>
          <a:prstGeom prst="rect">
            <a:avLst/>
          </a:prstGeom>
          <a:noFill/>
        </p:spPr>
        <p:txBody>
          <a:bodyPr wrap="square" rtlCol="0">
            <a:spAutoFit/>
          </a:bodyPr>
          <a:lstStyle/>
          <a:p>
            <a:pPr>
              <a:buFont typeface="Courier New" pitchFamily="49" charset="0"/>
              <a:buChar char="o"/>
            </a:pPr>
            <a:r>
              <a:rPr lang="en-IN" b="1" u="sng" dirty="0" smtClean="0">
                <a:latin typeface="Bell MT" pitchFamily="18" charset="0"/>
              </a:rPr>
              <a:t> Relay Module</a:t>
            </a:r>
          </a:p>
          <a:p>
            <a:endParaRPr lang="en-IN" b="1" u="sng" dirty="0" smtClean="0">
              <a:latin typeface="Bell MT" pitchFamily="18" charset="0"/>
            </a:endParaRPr>
          </a:p>
          <a:p>
            <a:r>
              <a:rPr lang="en-IN" sz="1600" dirty="0" smtClean="0">
                <a:latin typeface="Bell MT" pitchFamily="18" charset="0"/>
              </a:rPr>
              <a:t>This is relay interface board that can be controlled directly by a wide range of microcontrollers such as Arduino. It connects multiple AC powered devices that needs to be controlled and uses low-level triggered control signals (3.3-5 V DC) for controlling purpose. Every relay module consist of channels for each particular connected device. And, each channel has 2 parts:-</a:t>
            </a:r>
          </a:p>
          <a:p>
            <a:pPr marL="342900" indent="-342900">
              <a:buFont typeface="+mj-lt"/>
              <a:buAutoNum type="arabicPeriod"/>
            </a:pPr>
            <a:r>
              <a:rPr lang="en-IN" sz="1600" b="1" dirty="0" smtClean="0">
                <a:latin typeface="Bell MT" pitchFamily="18" charset="0"/>
              </a:rPr>
              <a:t>INPUT PART</a:t>
            </a:r>
          </a:p>
          <a:p>
            <a:pPr marL="342900" indent="-342900"/>
            <a:r>
              <a:rPr lang="en-IN" sz="1600" b="1" dirty="0" smtClean="0">
                <a:latin typeface="Bell MT" pitchFamily="18" charset="0"/>
              </a:rPr>
              <a:t>	</a:t>
            </a:r>
            <a:r>
              <a:rPr lang="en-IN" sz="1600" dirty="0" smtClean="0">
                <a:latin typeface="Bell MT" pitchFamily="18" charset="0"/>
              </a:rPr>
              <a:t>This part consist of 3 pins: INP (signal trigger port), VCC (acts as DC +ve), GND (acts as DC –ve)</a:t>
            </a:r>
          </a:p>
          <a:p>
            <a:pPr marL="342900" indent="-342900"/>
            <a:r>
              <a:rPr lang="en-IN" sz="1600" b="1" dirty="0" smtClean="0">
                <a:latin typeface="Bell MT" pitchFamily="18" charset="0"/>
              </a:rPr>
              <a:t>2.	OUTPUT PART</a:t>
            </a:r>
          </a:p>
          <a:p>
            <a:pPr marL="342900" indent="-342900"/>
            <a:r>
              <a:rPr lang="en-IN" sz="1600" b="1" dirty="0" smtClean="0">
                <a:latin typeface="Bell MT" pitchFamily="18" charset="0"/>
              </a:rPr>
              <a:t>	</a:t>
            </a:r>
            <a:r>
              <a:rPr lang="en-IN" sz="1600" dirty="0" smtClean="0">
                <a:latin typeface="Bell MT" pitchFamily="18" charset="0"/>
              </a:rPr>
              <a:t>It consist of 3 points: Normally Open Port (NOP), Common, Normally Closed Port (NCP). And, triggering relay operates NOP or NCP.</a:t>
            </a:r>
          </a:p>
          <a:p>
            <a:pPr marL="342900" indent="-342900"/>
            <a:r>
              <a:rPr lang="en-IN" sz="1600" dirty="0" smtClean="0">
                <a:latin typeface="Bell MT" pitchFamily="18" charset="0"/>
              </a:rPr>
              <a:t>	Whenever INP pin reads a HIGH voltage then common port gets in touch with NOP (because flowing current through coil of relay generates magnetic </a:t>
            </a:r>
            <a:r>
              <a:rPr lang="en-IN" sz="1600" dirty="0" smtClean="0">
                <a:latin typeface="Bell MT" pitchFamily="18" charset="0"/>
              </a:rPr>
              <a:t>field </a:t>
            </a:r>
            <a:r>
              <a:rPr lang="en-IN" sz="1600" dirty="0" smtClean="0">
                <a:latin typeface="Bell MT" pitchFamily="18" charset="0"/>
              </a:rPr>
              <a:t>that attracts Common lever and change switch contacts) &amp; circuit gets completed. When it reads a LOW voltage, common port touches with NCP &amp; circuit remains incomplete. In this way, when Arduino provides a +ve voltage then relay of particular device completes circuit and device gets powered on.</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2844" y="142852"/>
            <a:ext cx="8858311" cy="6524863"/>
          </a:xfrm>
          <a:prstGeom prst="rect">
            <a:avLst/>
          </a:prstGeom>
          <a:noFill/>
        </p:spPr>
        <p:txBody>
          <a:bodyPr wrap="square" rtlCol="0">
            <a:spAutoFit/>
          </a:bodyPr>
          <a:lstStyle/>
          <a:p>
            <a:pPr>
              <a:buFont typeface="Courier New" pitchFamily="49" charset="0"/>
              <a:buChar char="o"/>
            </a:pPr>
            <a:r>
              <a:rPr lang="en-IN" b="1" u="sng" dirty="0" smtClean="0">
                <a:latin typeface="Bell MT" pitchFamily="18" charset="0"/>
              </a:rPr>
              <a:t> ESP32 CAM (AI Thinker)</a:t>
            </a:r>
          </a:p>
          <a:p>
            <a:r>
              <a:rPr lang="en-IN" sz="1600" dirty="0" smtClean="0">
                <a:latin typeface="Bell MT" pitchFamily="18" charset="0"/>
              </a:rPr>
              <a:t>This module is an ESP32 development board (dual core i.e., it has 2 processors, built-in Wi-Fi &amp; Bluetooth module and have clock frequency upto 240 MHz) with an OV2640 Camera, microSD card support, on board flash lamp and several General purpose Input-Output (GPIOs) to connect peripherals.</a:t>
            </a:r>
          </a:p>
          <a:p>
            <a:r>
              <a:rPr lang="en-IN" sz="1600" dirty="0" smtClean="0">
                <a:latin typeface="Bell MT" pitchFamily="18" charset="0"/>
              </a:rPr>
              <a:t>Features:-</a:t>
            </a:r>
          </a:p>
          <a:p>
            <a:pPr>
              <a:buFont typeface="Arial" pitchFamily="34" charset="0"/>
              <a:buChar char="•"/>
            </a:pPr>
            <a:r>
              <a:rPr lang="en-IN" sz="1600" dirty="0" smtClean="0">
                <a:latin typeface="Bell MT" pitchFamily="18" charset="0"/>
              </a:rPr>
              <a:t> Here, GPIO1 &amp; GPIO3 are serial pins needed to upload code to the board.</a:t>
            </a:r>
          </a:p>
          <a:p>
            <a:pPr>
              <a:buFont typeface="Arial" pitchFamily="34" charset="0"/>
              <a:buChar char="•"/>
            </a:pPr>
            <a:r>
              <a:rPr lang="en-IN" sz="1600" dirty="0" smtClean="0">
                <a:latin typeface="Bell MT" pitchFamily="18" charset="0"/>
              </a:rPr>
              <a:t> When GPIO0 connected to GND, it implies that ESP32 is in flashing mode i.e., white LED present on      this camera will illuminate the object while capturing.</a:t>
            </a:r>
          </a:p>
          <a:p>
            <a:pPr>
              <a:buFont typeface="Arial" pitchFamily="34" charset="0"/>
              <a:buChar char="•"/>
            </a:pPr>
            <a:r>
              <a:rPr lang="en-IN" sz="1600" dirty="0" smtClean="0">
                <a:latin typeface="Bell MT" pitchFamily="18" charset="0"/>
              </a:rPr>
              <a:t> </a:t>
            </a:r>
            <a:r>
              <a:rPr lang="en-IN" sz="1600" b="1" dirty="0" smtClean="0">
                <a:latin typeface="Bell MT" pitchFamily="18" charset="0"/>
              </a:rPr>
              <a:t>Clock Speed: </a:t>
            </a:r>
            <a:r>
              <a:rPr lang="en-IN" sz="1600" dirty="0" smtClean="0">
                <a:latin typeface="Bell MT" pitchFamily="18" charset="0"/>
              </a:rPr>
              <a:t>upto 160 MHz</a:t>
            </a:r>
          </a:p>
          <a:p>
            <a:pPr>
              <a:buFont typeface="Arial" pitchFamily="34" charset="0"/>
              <a:buChar char="•"/>
            </a:pPr>
            <a:r>
              <a:rPr lang="en-IN" sz="1600" dirty="0" smtClean="0">
                <a:latin typeface="Bell MT" pitchFamily="18" charset="0"/>
              </a:rPr>
              <a:t> Supports Wi-Fi image upload</a:t>
            </a:r>
          </a:p>
          <a:p>
            <a:pPr>
              <a:buFont typeface="Arial" pitchFamily="34" charset="0"/>
              <a:buChar char="•"/>
            </a:pPr>
            <a:r>
              <a:rPr lang="en-IN" sz="1600" dirty="0" smtClean="0">
                <a:latin typeface="Bell MT" pitchFamily="18" charset="0"/>
              </a:rPr>
              <a:t> Built-in flash LED</a:t>
            </a:r>
          </a:p>
          <a:p>
            <a:pPr>
              <a:buFont typeface="Arial" pitchFamily="34" charset="0"/>
              <a:buChar char="•"/>
            </a:pPr>
            <a:r>
              <a:rPr lang="en-IN" sz="1600" dirty="0" smtClean="0">
                <a:latin typeface="Bell MT" pitchFamily="18" charset="0"/>
              </a:rPr>
              <a:t> Camera has 2MP sensor &amp; image transfer rate of 15-60 frames per second.</a:t>
            </a:r>
          </a:p>
          <a:p>
            <a:endParaRPr lang="en-IN" sz="1600" dirty="0" smtClean="0">
              <a:latin typeface="Bell MT" pitchFamily="18" charset="0"/>
            </a:endParaRPr>
          </a:p>
          <a:p>
            <a:endParaRPr lang="en-IN" sz="1600" dirty="0" smtClean="0">
              <a:latin typeface="Bell MT" pitchFamily="18" charset="0"/>
            </a:endParaRPr>
          </a:p>
          <a:p>
            <a:pPr>
              <a:buFont typeface="Courier New" pitchFamily="49" charset="0"/>
              <a:buChar char="o"/>
            </a:pPr>
            <a:r>
              <a:rPr lang="en-IN" sz="1600" b="1" u="sng" dirty="0" smtClean="0">
                <a:latin typeface="Bell MT" pitchFamily="18" charset="0"/>
              </a:rPr>
              <a:t> FTDI 232 USB to serial interface board</a:t>
            </a:r>
          </a:p>
          <a:p>
            <a:r>
              <a:rPr lang="en-IN" sz="1600" dirty="0" smtClean="0">
                <a:latin typeface="Bell MT" pitchFamily="18" charset="0"/>
              </a:rPr>
              <a:t>This device is used to transmit &amp; receive data between computer and external devices such as microcontroller, development modules, etc. Here, it will be used to program ESP32 CAM.. It supports data transfer rates from 300 Baud to 3MBaud at TTL (Transistor-Transistor logic; it is a serial communication commonly found in methods used by microcontrollers) levels.</a:t>
            </a:r>
          </a:p>
          <a:p>
            <a:r>
              <a:rPr lang="en-IN" sz="1600" dirty="0" smtClean="0">
                <a:latin typeface="Bell MT" pitchFamily="18" charset="0"/>
              </a:rPr>
              <a:t>It consist of 6 pins:-</a:t>
            </a:r>
          </a:p>
          <a:p>
            <a:pPr>
              <a:buFont typeface="Arial" pitchFamily="34" charset="0"/>
              <a:buChar char="•"/>
            </a:pPr>
            <a:r>
              <a:rPr lang="en-IN" sz="1600" dirty="0" smtClean="0">
                <a:latin typeface="Bell MT" pitchFamily="18" charset="0"/>
              </a:rPr>
              <a:t> </a:t>
            </a:r>
            <a:r>
              <a:rPr lang="en-IN" sz="1600" b="1" dirty="0" smtClean="0">
                <a:latin typeface="Bell MT" pitchFamily="18" charset="0"/>
              </a:rPr>
              <a:t>GND</a:t>
            </a:r>
            <a:r>
              <a:rPr lang="en-IN" sz="1600" dirty="0" smtClean="0">
                <a:latin typeface="Bell MT" pitchFamily="18" charset="0"/>
              </a:rPr>
              <a:t> – </a:t>
            </a:r>
            <a:r>
              <a:rPr lang="en-IN" sz="1600" b="1" dirty="0" smtClean="0">
                <a:latin typeface="Bell MT" pitchFamily="18" charset="0"/>
              </a:rPr>
              <a:t>Black</a:t>
            </a:r>
          </a:p>
          <a:p>
            <a:pPr>
              <a:buFont typeface="Arial" pitchFamily="34" charset="0"/>
              <a:buChar char="•"/>
            </a:pPr>
            <a:r>
              <a:rPr lang="en-IN" sz="1600" dirty="0" smtClean="0">
                <a:latin typeface="Bell MT" pitchFamily="18" charset="0"/>
              </a:rPr>
              <a:t> </a:t>
            </a:r>
            <a:r>
              <a:rPr lang="en-IN" sz="1600" b="1" dirty="0" smtClean="0">
                <a:latin typeface="Bell MT" pitchFamily="18" charset="0"/>
              </a:rPr>
              <a:t>CTS</a:t>
            </a:r>
            <a:r>
              <a:rPr lang="en-IN" sz="1600" dirty="0" smtClean="0">
                <a:latin typeface="Bell MT" pitchFamily="18" charset="0"/>
              </a:rPr>
              <a:t> – </a:t>
            </a:r>
            <a:r>
              <a:rPr lang="en-IN" sz="1600" b="1" dirty="0" smtClean="0">
                <a:solidFill>
                  <a:srgbClr val="C00000"/>
                </a:solidFill>
                <a:latin typeface="Bell MT" pitchFamily="18" charset="0"/>
              </a:rPr>
              <a:t>Brown</a:t>
            </a:r>
            <a:r>
              <a:rPr lang="en-IN" sz="1600" dirty="0" smtClean="0">
                <a:latin typeface="Bell MT" pitchFamily="18" charset="0"/>
              </a:rPr>
              <a:t> – Clear To Send</a:t>
            </a:r>
          </a:p>
          <a:p>
            <a:pPr>
              <a:buFont typeface="Arial" pitchFamily="34" charset="0"/>
              <a:buChar char="•"/>
            </a:pPr>
            <a:r>
              <a:rPr lang="en-IN" sz="1600" dirty="0" smtClean="0">
                <a:latin typeface="Bell MT" pitchFamily="18" charset="0"/>
              </a:rPr>
              <a:t> </a:t>
            </a:r>
            <a:r>
              <a:rPr lang="en-IN" sz="1600" b="1" dirty="0" smtClean="0">
                <a:latin typeface="Bell MT" pitchFamily="18" charset="0"/>
              </a:rPr>
              <a:t>VCC</a:t>
            </a:r>
            <a:r>
              <a:rPr lang="en-IN" sz="1600" dirty="0" smtClean="0">
                <a:latin typeface="Bell MT" pitchFamily="18" charset="0"/>
              </a:rPr>
              <a:t> – </a:t>
            </a:r>
            <a:r>
              <a:rPr lang="en-IN" sz="1600" b="1" dirty="0" smtClean="0">
                <a:solidFill>
                  <a:srgbClr val="FF0000"/>
                </a:solidFill>
                <a:latin typeface="Bell MT" pitchFamily="18" charset="0"/>
              </a:rPr>
              <a:t>Red</a:t>
            </a:r>
            <a:r>
              <a:rPr lang="en-IN" sz="1600" dirty="0" smtClean="0">
                <a:latin typeface="Bell MT" pitchFamily="18" charset="0"/>
              </a:rPr>
              <a:t> - +ve voltage output (+5V)</a:t>
            </a:r>
          </a:p>
          <a:p>
            <a:pPr>
              <a:buFont typeface="Arial" pitchFamily="34" charset="0"/>
              <a:buChar char="•"/>
            </a:pPr>
            <a:r>
              <a:rPr lang="en-IN" sz="1600" dirty="0" smtClean="0">
                <a:latin typeface="Bell MT" pitchFamily="18" charset="0"/>
              </a:rPr>
              <a:t> </a:t>
            </a:r>
            <a:r>
              <a:rPr lang="en-IN" sz="1600" b="1" dirty="0" smtClean="0">
                <a:latin typeface="Bell MT" pitchFamily="18" charset="0"/>
              </a:rPr>
              <a:t>TXD</a:t>
            </a:r>
            <a:r>
              <a:rPr lang="en-IN" sz="1600" dirty="0" smtClean="0">
                <a:latin typeface="Bell MT" pitchFamily="18" charset="0"/>
              </a:rPr>
              <a:t> – </a:t>
            </a:r>
            <a:r>
              <a:rPr lang="en-IN" sz="1600" b="1" dirty="0" smtClean="0">
                <a:solidFill>
                  <a:schemeClr val="accent6">
                    <a:lumMod val="75000"/>
                  </a:schemeClr>
                </a:solidFill>
                <a:latin typeface="Bell MT" pitchFamily="18" charset="0"/>
              </a:rPr>
              <a:t>Orange</a:t>
            </a:r>
            <a:r>
              <a:rPr lang="en-IN" sz="1600" dirty="0" smtClean="0">
                <a:latin typeface="Bell MT" pitchFamily="18" charset="0"/>
              </a:rPr>
              <a:t> – Transmit Asynchronous Data Output</a:t>
            </a:r>
          </a:p>
          <a:p>
            <a:pPr>
              <a:buFont typeface="Arial" pitchFamily="34" charset="0"/>
              <a:buChar char="•"/>
            </a:pPr>
            <a:r>
              <a:rPr lang="en-IN" sz="1600" dirty="0" smtClean="0">
                <a:latin typeface="Bell MT" pitchFamily="18" charset="0"/>
              </a:rPr>
              <a:t> </a:t>
            </a:r>
            <a:r>
              <a:rPr lang="en-IN" sz="1600" b="1" dirty="0" smtClean="0">
                <a:latin typeface="Bell MT" pitchFamily="18" charset="0"/>
              </a:rPr>
              <a:t>RXD</a:t>
            </a:r>
            <a:r>
              <a:rPr lang="en-IN" sz="1600" dirty="0" smtClean="0">
                <a:latin typeface="Bell MT" pitchFamily="18" charset="0"/>
              </a:rPr>
              <a:t> – </a:t>
            </a:r>
            <a:r>
              <a:rPr lang="en-IN" sz="1600" b="1" dirty="0" smtClean="0">
                <a:solidFill>
                  <a:srgbClr val="FFFF00"/>
                </a:solidFill>
                <a:latin typeface="Bell MT" pitchFamily="18" charset="0"/>
              </a:rPr>
              <a:t>Yellow</a:t>
            </a:r>
            <a:r>
              <a:rPr lang="en-IN" sz="1600" dirty="0" smtClean="0">
                <a:latin typeface="Bell MT" pitchFamily="18" charset="0"/>
              </a:rPr>
              <a:t> – Receive asynchronous data input</a:t>
            </a:r>
          </a:p>
          <a:p>
            <a:pPr>
              <a:buFont typeface="Arial" pitchFamily="34" charset="0"/>
              <a:buChar char="•"/>
            </a:pPr>
            <a:r>
              <a:rPr lang="en-IN" sz="1600" dirty="0" smtClean="0">
                <a:latin typeface="Bell MT" pitchFamily="18" charset="0"/>
              </a:rPr>
              <a:t> </a:t>
            </a:r>
            <a:r>
              <a:rPr lang="en-IN" sz="1600" b="1" dirty="0" smtClean="0">
                <a:latin typeface="Bell MT" pitchFamily="18" charset="0"/>
              </a:rPr>
              <a:t>RTS</a:t>
            </a:r>
            <a:r>
              <a:rPr lang="en-IN" sz="1600" dirty="0" smtClean="0">
                <a:latin typeface="Bell MT" pitchFamily="18" charset="0"/>
              </a:rPr>
              <a:t> – </a:t>
            </a:r>
            <a:r>
              <a:rPr lang="en-IN" sz="1600" b="1" dirty="0" smtClean="0">
                <a:solidFill>
                  <a:srgbClr val="00B050"/>
                </a:solidFill>
                <a:latin typeface="Bell MT" pitchFamily="18" charset="0"/>
              </a:rPr>
              <a:t>Green</a:t>
            </a:r>
            <a:r>
              <a:rPr lang="en-IN" sz="1600" dirty="0" smtClean="0">
                <a:latin typeface="Bell MT" pitchFamily="18" charset="0"/>
              </a:rPr>
              <a:t> – Request to send</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282" y="142852"/>
            <a:ext cx="2198038" cy="369332"/>
          </a:xfrm>
          <a:prstGeom prst="rect">
            <a:avLst/>
          </a:prstGeom>
          <a:noFill/>
        </p:spPr>
        <p:txBody>
          <a:bodyPr wrap="none" rtlCol="0">
            <a:spAutoFit/>
          </a:bodyPr>
          <a:lstStyle/>
          <a:p>
            <a:r>
              <a:rPr lang="en-IN" b="1" u="sng" dirty="0" smtClean="0">
                <a:latin typeface="Book Antiqua" pitchFamily="18" charset="0"/>
              </a:rPr>
              <a:t>Use-Case Diagram:</a:t>
            </a:r>
            <a:endParaRPr lang="en-IN" sz="1600" dirty="0" smtClean="0">
              <a:latin typeface="Book Antiqua" pitchFamily="18" charset="0"/>
            </a:endParaRPr>
          </a:p>
        </p:txBody>
      </p:sp>
      <p:pic>
        <p:nvPicPr>
          <p:cNvPr id="1026" name="Picture 2"/>
          <p:cNvPicPr>
            <a:picLocks noChangeAspect="1" noChangeArrowheads="1"/>
          </p:cNvPicPr>
          <p:nvPr/>
        </p:nvPicPr>
        <p:blipFill>
          <a:blip r:embed="rId2"/>
          <a:srcRect/>
          <a:stretch>
            <a:fillRect/>
          </a:stretch>
        </p:blipFill>
        <p:spPr bwMode="auto">
          <a:xfrm>
            <a:off x="0" y="714357"/>
            <a:ext cx="9143999" cy="614364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2845" y="1"/>
            <a:ext cx="8858312" cy="6858000"/>
          </a:xfrm>
          <a:prstGeom prst="rect">
            <a:avLst/>
          </a:prstGeom>
          <a:noFill/>
        </p:spPr>
        <p:txBody>
          <a:bodyPr wrap="square" rtlCol="0">
            <a:spAutoFit/>
          </a:bodyPr>
          <a:lstStyle/>
          <a:p>
            <a:r>
              <a:rPr lang="en-IN" sz="2000" b="1" u="sng" dirty="0" smtClean="0">
                <a:latin typeface="Bell MT" pitchFamily="18" charset="0"/>
              </a:rPr>
              <a:t>PROCEDURE</a:t>
            </a:r>
            <a:r>
              <a:rPr lang="en-IN" sz="2000" b="1" dirty="0" smtClean="0">
                <a:latin typeface="Bell MT" pitchFamily="18" charset="0"/>
              </a:rPr>
              <a:t>:-</a:t>
            </a:r>
          </a:p>
          <a:p>
            <a:r>
              <a:rPr lang="en-IN" sz="1600" dirty="0" smtClean="0">
                <a:latin typeface="Bell MT" pitchFamily="18" charset="0"/>
              </a:rPr>
              <a:t>In this Home automation system, we are going to automate 3 devices that are lights, fans and security system. So, we are dividing this whole system into 2 parts:-</a:t>
            </a:r>
          </a:p>
          <a:p>
            <a:pPr marL="400050" indent="-400050">
              <a:buFont typeface="+mj-lt"/>
              <a:buAutoNum type="romanLcPeriod"/>
            </a:pPr>
            <a:r>
              <a:rPr lang="en-IN" sz="1600" dirty="0" smtClean="0">
                <a:latin typeface="Bell MT" pitchFamily="18" charset="0"/>
              </a:rPr>
              <a:t>To automate lights and fans of a room.</a:t>
            </a:r>
          </a:p>
          <a:p>
            <a:pPr marL="400050" indent="-400050">
              <a:buFont typeface="+mj-lt"/>
              <a:buAutoNum type="romanLcPeriod"/>
            </a:pPr>
            <a:r>
              <a:rPr lang="en-IN" sz="1600" dirty="0" smtClean="0">
                <a:latin typeface="Bell MT" pitchFamily="18" charset="0"/>
              </a:rPr>
              <a:t>To automate security system that will send a notification whenever it encounters any movement around house gate and also allows the house owner who have access to this system to capture the image anytime.</a:t>
            </a:r>
          </a:p>
          <a:p>
            <a:pPr marL="342900" indent="-342900" algn="ctr"/>
            <a:r>
              <a:rPr lang="en-IN" b="1" u="sng" dirty="0" smtClean="0">
                <a:solidFill>
                  <a:schemeClr val="tx2">
                    <a:lumMod val="75000"/>
                  </a:schemeClr>
                </a:solidFill>
                <a:latin typeface="Bell MT" pitchFamily="18" charset="0"/>
              </a:rPr>
              <a:t>First Part</a:t>
            </a:r>
          </a:p>
          <a:p>
            <a:pPr marL="342900" indent="-342900"/>
            <a:r>
              <a:rPr lang="en-IN" sz="1600" dirty="0" smtClean="0">
                <a:solidFill>
                  <a:srgbClr val="C00000"/>
                </a:solidFill>
                <a:latin typeface="Bell MT" pitchFamily="18" charset="0"/>
              </a:rPr>
              <a:t>(Connections)</a:t>
            </a:r>
          </a:p>
          <a:p>
            <a:pPr marL="342900" indent="-342900">
              <a:buFont typeface="+mj-lt"/>
              <a:buAutoNum type="arabicParenR"/>
            </a:pPr>
            <a:r>
              <a:rPr lang="en-IN" sz="1600" dirty="0" smtClean="0">
                <a:latin typeface="Bell MT" pitchFamily="18" charset="0"/>
              </a:rPr>
              <a:t>Connect VCC pin of PIR Sensor to 5V pin of Arduino.</a:t>
            </a:r>
          </a:p>
          <a:p>
            <a:pPr marL="342900" indent="-342900">
              <a:buFont typeface="+mj-lt"/>
              <a:buAutoNum type="arabicParenR"/>
            </a:pPr>
            <a:r>
              <a:rPr lang="en-IN" sz="1600" dirty="0" smtClean="0">
                <a:latin typeface="Bell MT" pitchFamily="18" charset="0"/>
              </a:rPr>
              <a:t>Connect GND pin of PIR sensor to GND pin of Arduino.</a:t>
            </a:r>
          </a:p>
          <a:p>
            <a:pPr marL="342900" indent="-342900">
              <a:buFont typeface="+mj-lt"/>
              <a:buAutoNum type="arabicParenR"/>
            </a:pPr>
            <a:r>
              <a:rPr lang="en-IN" sz="1600" dirty="0" smtClean="0">
                <a:latin typeface="Bell MT" pitchFamily="18" charset="0"/>
              </a:rPr>
              <a:t>Connect OUT pin of PIR sensor to Digital pin 7 of Arduino.</a:t>
            </a:r>
          </a:p>
          <a:p>
            <a:pPr marL="342900" indent="-342900">
              <a:buFont typeface="+mj-lt"/>
              <a:buAutoNum type="arabicParenR"/>
            </a:pPr>
            <a:r>
              <a:rPr lang="en-IN" sz="1600" dirty="0" smtClean="0">
                <a:latin typeface="Bell MT" pitchFamily="18" charset="0"/>
              </a:rPr>
              <a:t>Now, connect VCC pin of PIR Sensor to VCC pin of 2-channel Relay module.</a:t>
            </a:r>
          </a:p>
          <a:p>
            <a:pPr marL="342900" indent="-342900">
              <a:buFont typeface="+mj-lt"/>
              <a:buAutoNum type="arabicParenR"/>
            </a:pPr>
            <a:r>
              <a:rPr lang="en-IN" sz="1600" dirty="0" smtClean="0">
                <a:latin typeface="Bell MT" pitchFamily="18" charset="0"/>
              </a:rPr>
              <a:t>Connect GND pin of PIR sensor to GND pin of 2-channel Relay module.</a:t>
            </a:r>
          </a:p>
          <a:p>
            <a:pPr marL="342900" indent="-342900">
              <a:buFont typeface="+mj-lt"/>
              <a:buAutoNum type="arabicParenR"/>
            </a:pPr>
            <a:r>
              <a:rPr lang="en-IN" sz="1600" dirty="0" smtClean="0">
                <a:latin typeface="Bell MT" pitchFamily="18" charset="0"/>
              </a:rPr>
              <a:t>Connect IN2 pin of Relay to Digital pin 13 of Arduino.</a:t>
            </a:r>
          </a:p>
          <a:p>
            <a:pPr marL="342900" indent="-342900">
              <a:buFont typeface="+mj-lt"/>
              <a:buAutoNum type="arabicParenR"/>
            </a:pPr>
            <a:r>
              <a:rPr lang="en-IN" sz="1600" dirty="0" smtClean="0">
                <a:latin typeface="Bell MT" pitchFamily="18" charset="0"/>
              </a:rPr>
              <a:t>Connect IN1 pin of Relay to Digital pin 12 of Arduino.</a:t>
            </a:r>
          </a:p>
          <a:p>
            <a:pPr marL="342900" indent="-342900">
              <a:buFont typeface="+mj-lt"/>
              <a:buAutoNum type="arabicParenR"/>
            </a:pPr>
            <a:r>
              <a:rPr lang="en-IN" sz="1600" dirty="0" smtClean="0">
                <a:latin typeface="Bell MT" pitchFamily="18" charset="0"/>
              </a:rPr>
              <a:t>Now, connect common ports of both relay channels and insert in a socket block.</a:t>
            </a:r>
          </a:p>
          <a:p>
            <a:pPr marL="342900" indent="-342900">
              <a:buFont typeface="+mj-lt"/>
              <a:buAutoNum type="arabicParenR"/>
            </a:pPr>
            <a:r>
              <a:rPr lang="en-IN" sz="1600" dirty="0" smtClean="0">
                <a:latin typeface="Bell MT" pitchFamily="18" charset="0"/>
              </a:rPr>
              <a:t>Connect one wiring of both appliances with NOP of each channel.</a:t>
            </a:r>
          </a:p>
          <a:p>
            <a:pPr marL="342900" indent="-342900">
              <a:buFont typeface="+mj-lt"/>
              <a:buAutoNum type="arabicParenR"/>
            </a:pPr>
            <a:r>
              <a:rPr lang="en-IN" sz="1600" dirty="0" smtClean="0">
                <a:latin typeface="Bell MT" pitchFamily="18" charset="0"/>
              </a:rPr>
              <a:t>Finally, Connect second wirings of both appliances and insert into another socket block.</a:t>
            </a:r>
          </a:p>
          <a:p>
            <a:pPr marL="342900" indent="-342900">
              <a:buFont typeface="+mj-lt"/>
              <a:buAutoNum type="arabicParenR"/>
            </a:pPr>
            <a:r>
              <a:rPr lang="en-IN" sz="1600" dirty="0" smtClean="0">
                <a:latin typeface="Bell MT" pitchFamily="18" charset="0"/>
              </a:rPr>
              <a:t>Lastly, connect a Battery for providing current in the circuit. For this, join –ve terminal of battery with common GND wiring and join +ve terminal of battery with common VCC wiring.</a:t>
            </a:r>
          </a:p>
          <a:p>
            <a:pPr marL="342900" indent="-342900"/>
            <a:r>
              <a:rPr lang="en-IN" sz="1600" dirty="0" smtClean="0">
                <a:solidFill>
                  <a:srgbClr val="C00000"/>
                </a:solidFill>
                <a:latin typeface="Bell MT" pitchFamily="18" charset="0"/>
              </a:rPr>
              <a:t>(Working)</a:t>
            </a:r>
          </a:p>
          <a:p>
            <a:pPr marL="342900" indent="-342900"/>
            <a:r>
              <a:rPr lang="en-IN" sz="1600" dirty="0" smtClean="0">
                <a:latin typeface="Bell MT" pitchFamily="18" charset="0"/>
              </a:rPr>
              <a:t>	This circuit doesn’t need any external connection like Wi-Fi or Bluetooth. Just after plugging final wiring in socket, turn on the switch and then circuit will be in working state. Now, when sensor will sense any motion then it sends a HIGH signal to Arduino &amp; that will sends a HIGH signal to both devices using relay module. In this way, circuit of both devices gets completed and devices will get turned on. When it stop sensing anything, then it will sends a LOW signal to turn off devices.</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2844" y="0"/>
            <a:ext cx="8858312" cy="7017306"/>
          </a:xfrm>
          <a:prstGeom prst="rect">
            <a:avLst/>
          </a:prstGeom>
          <a:noFill/>
        </p:spPr>
        <p:txBody>
          <a:bodyPr wrap="square" rtlCol="0">
            <a:spAutoFit/>
          </a:bodyPr>
          <a:lstStyle/>
          <a:p>
            <a:pPr marL="342900" indent="-342900" algn="ctr"/>
            <a:r>
              <a:rPr lang="en-IN" b="1" u="sng" dirty="0" smtClean="0">
                <a:solidFill>
                  <a:schemeClr val="tx2">
                    <a:lumMod val="75000"/>
                  </a:schemeClr>
                </a:solidFill>
                <a:latin typeface="Bell MT" pitchFamily="18" charset="0"/>
              </a:rPr>
              <a:t>Second Part</a:t>
            </a:r>
          </a:p>
          <a:p>
            <a:pPr marL="342900" indent="-342900"/>
            <a:r>
              <a:rPr lang="en-IN" sz="1600" dirty="0" smtClean="0">
                <a:latin typeface="Bell MT" pitchFamily="18" charset="0"/>
              </a:rPr>
              <a:t>To implement this, firstly we need to program ESP32 CAM using FTDI 232.</a:t>
            </a:r>
          </a:p>
          <a:p>
            <a:pPr marL="342900" indent="-342900">
              <a:buFont typeface="+mj-lt"/>
              <a:buAutoNum type="arabicParenR"/>
            </a:pPr>
            <a:r>
              <a:rPr lang="en-IN" sz="1600" dirty="0" smtClean="0">
                <a:latin typeface="Bell MT" pitchFamily="18" charset="0"/>
              </a:rPr>
              <a:t>Connect VCC pin of FTDI to 5V DC pin of CAM.</a:t>
            </a:r>
          </a:p>
          <a:p>
            <a:pPr marL="342900" indent="-342900">
              <a:buFont typeface="+mj-lt"/>
              <a:buAutoNum type="arabicParenR"/>
            </a:pPr>
            <a:r>
              <a:rPr lang="en-IN" sz="1600" dirty="0" smtClean="0">
                <a:latin typeface="Bell MT" pitchFamily="18" charset="0"/>
              </a:rPr>
              <a:t>Connect RXD pin of FTDI to GPIO1 pin of CAM.</a:t>
            </a:r>
          </a:p>
          <a:p>
            <a:pPr marL="342900" indent="-342900">
              <a:buFont typeface="+mj-lt"/>
              <a:buAutoNum type="arabicParenR"/>
            </a:pPr>
            <a:r>
              <a:rPr lang="en-IN" sz="1600" dirty="0" smtClean="0">
                <a:latin typeface="Bell MT" pitchFamily="18" charset="0"/>
              </a:rPr>
              <a:t>Connect TXD pin of FTDI to GPIO3 pin of CAM.</a:t>
            </a:r>
          </a:p>
          <a:p>
            <a:pPr marL="342900" indent="-342900">
              <a:buFont typeface="+mj-lt"/>
              <a:buAutoNum type="arabicParenR"/>
            </a:pPr>
            <a:r>
              <a:rPr lang="en-IN" sz="1600" dirty="0" smtClean="0">
                <a:latin typeface="Bell MT" pitchFamily="18" charset="0"/>
              </a:rPr>
              <a:t>Connect GND pin of FTDI to GND pin of CAM.</a:t>
            </a:r>
          </a:p>
          <a:p>
            <a:pPr marL="342900" indent="-342900">
              <a:buFont typeface="+mj-lt"/>
              <a:buAutoNum type="arabicParenR"/>
            </a:pPr>
            <a:r>
              <a:rPr lang="en-IN" sz="1600" dirty="0" smtClean="0">
                <a:latin typeface="Bell MT" pitchFamily="18" charset="0"/>
              </a:rPr>
              <a:t>Connect GPIO0 pin of CAM to GND pin of CAM.</a:t>
            </a:r>
          </a:p>
          <a:p>
            <a:pPr marL="342900" indent="-342900"/>
            <a:endParaRPr lang="en-IN" sz="1600" dirty="0" smtClean="0">
              <a:latin typeface="Bell MT" pitchFamily="18" charset="0"/>
            </a:endParaRPr>
          </a:p>
          <a:p>
            <a:pPr marL="342900" indent="-342900"/>
            <a:r>
              <a:rPr lang="en-IN" sz="1600" dirty="0" smtClean="0">
                <a:latin typeface="Bell MT" pitchFamily="18" charset="0"/>
              </a:rPr>
              <a:t>	 After completing all connections, download BLYNK android app -&gt; New project -&gt; give a name -&gt; choose a board(ESP32 DEV Board) -&gt; Create -&gt; receive a Authentication token that will be used in code that we will upload. To upload code, connect a USB between FTDI and your computer. After successfully uploading code, disconnect all above connections and now we will connect this coded CAM with PIR Sensor for final system.</a:t>
            </a:r>
          </a:p>
          <a:p>
            <a:pPr marL="342900" indent="-342900">
              <a:buFont typeface="+mj-lt"/>
              <a:buAutoNum type="arabicParenR"/>
            </a:pPr>
            <a:r>
              <a:rPr lang="en-IN" sz="1600" dirty="0" smtClean="0">
                <a:latin typeface="Bell MT" pitchFamily="18" charset="0"/>
              </a:rPr>
              <a:t>Connect GND pin of Sensor to Emitter pin of BC547 NPN transistor.</a:t>
            </a:r>
          </a:p>
          <a:p>
            <a:pPr marL="342900" indent="-342900">
              <a:buFont typeface="+mj-lt"/>
              <a:buAutoNum type="arabicParenR"/>
            </a:pPr>
            <a:r>
              <a:rPr lang="en-IN" sz="1600" dirty="0" smtClean="0">
                <a:latin typeface="Bell MT" pitchFamily="18" charset="0"/>
              </a:rPr>
              <a:t>Connect GND pin of Sensor to GND pin of CAM.</a:t>
            </a:r>
          </a:p>
          <a:p>
            <a:pPr marL="342900" indent="-342900">
              <a:buFont typeface="+mj-lt"/>
              <a:buAutoNum type="arabicParenR"/>
            </a:pPr>
            <a:r>
              <a:rPr lang="en-IN" sz="1600" dirty="0" smtClean="0">
                <a:latin typeface="Bell MT" pitchFamily="18" charset="0"/>
              </a:rPr>
              <a:t>Connect Base pin of transistor to OUT pin of Sensor using a 1 K ohm resistor.</a:t>
            </a:r>
          </a:p>
          <a:p>
            <a:pPr marL="342900" indent="-342900">
              <a:buFont typeface="+mj-lt"/>
              <a:buAutoNum type="arabicParenR"/>
            </a:pPr>
            <a:r>
              <a:rPr lang="en-IN" sz="1600" dirty="0" smtClean="0">
                <a:latin typeface="Bell MT" pitchFamily="18" charset="0"/>
              </a:rPr>
              <a:t>Connect VCC pin of sensor &amp; 1 pin of LED to 5V DC pin of CAM.</a:t>
            </a:r>
          </a:p>
          <a:p>
            <a:pPr marL="342900" indent="-342900">
              <a:buFont typeface="+mj-lt"/>
              <a:buAutoNum type="arabicParenR"/>
            </a:pPr>
            <a:r>
              <a:rPr lang="en-IN" sz="1600" dirty="0" smtClean="0">
                <a:latin typeface="Bell MT" pitchFamily="18" charset="0"/>
              </a:rPr>
              <a:t>Connect Common pin of transistor to 2</a:t>
            </a:r>
            <a:r>
              <a:rPr lang="en-IN" sz="1600" baseline="30000" dirty="0" smtClean="0">
                <a:latin typeface="Bell MT" pitchFamily="18" charset="0"/>
              </a:rPr>
              <a:t>nd</a:t>
            </a:r>
            <a:r>
              <a:rPr lang="en-IN" sz="1600" dirty="0" smtClean="0">
                <a:latin typeface="Bell MT" pitchFamily="18" charset="0"/>
              </a:rPr>
              <a:t> LED pin using a 220 ohm resistor and to GPIO13 pin of CAM using 10 K ohm resistor.</a:t>
            </a:r>
          </a:p>
          <a:p>
            <a:pPr marL="342900" indent="-342900">
              <a:buFont typeface="+mj-lt"/>
              <a:buAutoNum type="arabicParenR"/>
            </a:pPr>
            <a:r>
              <a:rPr lang="en-IN" sz="1600" dirty="0" smtClean="0">
                <a:latin typeface="Bell MT" pitchFamily="18" charset="0"/>
              </a:rPr>
              <a:t>Finally, connect 5VDC pin &amp; GND pin of CAM to a 5V DC supply.</a:t>
            </a:r>
          </a:p>
          <a:p>
            <a:pPr marL="342900" indent="-342900"/>
            <a:endParaRPr lang="en-IN" sz="1600" dirty="0" smtClean="0">
              <a:latin typeface="Bell MT" pitchFamily="18" charset="0"/>
            </a:endParaRPr>
          </a:p>
          <a:p>
            <a:pPr marL="342900" indent="-342900"/>
            <a:r>
              <a:rPr lang="en-IN" sz="1600" dirty="0" smtClean="0">
                <a:latin typeface="Bell MT" pitchFamily="18" charset="0"/>
              </a:rPr>
              <a:t>	Now, all connections are done. In this circuit,  when sensor detect any motion the OUT pin become HIGH &amp; will give HIGH pulse to BASE pin of transistor. Then, transistor will get turned on &amp; it’ll Ground the GPIO13 pin of CAM and when it gets LOW then CAM will start taking pictures. When transistor gets turned on, it’ll also turns on connected LED. Now, in app go to your created project -&gt; + icon -&gt; Add views to project like ImageGallery, Button, Notification. Now, supply power to circuit to enable it and turn on play button on blink app. Use circuit for intended purpose.</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4282" y="142852"/>
            <a:ext cx="3031599" cy="369332"/>
          </a:xfrm>
          <a:prstGeom prst="rect">
            <a:avLst/>
          </a:prstGeom>
          <a:noFill/>
        </p:spPr>
        <p:txBody>
          <a:bodyPr wrap="none" rtlCol="0">
            <a:spAutoFit/>
          </a:bodyPr>
          <a:lstStyle/>
          <a:p>
            <a:r>
              <a:rPr lang="en-IN" b="1" u="sng" dirty="0" smtClean="0">
                <a:latin typeface="Book Antiqua" pitchFamily="18" charset="0"/>
              </a:rPr>
              <a:t>Data Flow Diagram (DFD):</a:t>
            </a:r>
            <a:endParaRPr lang="en-IN" sz="1600" dirty="0" smtClean="0">
              <a:latin typeface="Book Antiqua" pitchFamily="18" charset="0"/>
            </a:endParaRPr>
          </a:p>
        </p:txBody>
      </p:sp>
      <p:pic>
        <p:nvPicPr>
          <p:cNvPr id="3074" name="Picture 2"/>
          <p:cNvPicPr>
            <a:picLocks noChangeAspect="1" noChangeArrowheads="1"/>
          </p:cNvPicPr>
          <p:nvPr/>
        </p:nvPicPr>
        <p:blipFill>
          <a:blip r:embed="rId2"/>
          <a:srcRect l="42640" r="6926"/>
          <a:stretch>
            <a:fillRect/>
          </a:stretch>
        </p:blipFill>
        <p:spPr bwMode="auto">
          <a:xfrm>
            <a:off x="928662" y="714356"/>
            <a:ext cx="7286676" cy="6143644"/>
          </a:xfrm>
          <a:prstGeom prst="rect">
            <a:avLst/>
          </a:prstGeom>
          <a:noFill/>
          <a:ln w="9525">
            <a:noFill/>
            <a:miter lim="800000"/>
            <a:headEnd/>
            <a:tailEnd/>
          </a:ln>
          <a:effectLst/>
        </p:spPr>
      </p:pic>
      <p:sp>
        <p:nvSpPr>
          <p:cNvPr id="5" name="TextBox 4"/>
          <p:cNvSpPr txBox="1"/>
          <p:nvPr/>
        </p:nvSpPr>
        <p:spPr>
          <a:xfrm>
            <a:off x="7000892" y="214290"/>
            <a:ext cx="1960793" cy="369332"/>
          </a:xfrm>
          <a:prstGeom prst="rect">
            <a:avLst/>
          </a:prstGeom>
          <a:noFill/>
        </p:spPr>
        <p:txBody>
          <a:bodyPr wrap="none" rtlCol="0">
            <a:spAutoFit/>
          </a:bodyPr>
          <a:lstStyle/>
          <a:p>
            <a:r>
              <a:rPr lang="en-IN" b="1" dirty="0" smtClean="0">
                <a:solidFill>
                  <a:srgbClr val="FF0000"/>
                </a:solidFill>
                <a:latin typeface="Book Antiqua" pitchFamily="18" charset="0"/>
              </a:rPr>
              <a:t>( 0-LEVEL DFD )</a:t>
            </a:r>
            <a:endParaRPr lang="en-IN" sz="1600" dirty="0" smtClean="0">
              <a:solidFill>
                <a:srgbClr val="FF0000"/>
              </a:solidFill>
              <a:latin typeface="Book Antiqua" pitchFamily="18"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000892" y="214290"/>
            <a:ext cx="1960793" cy="369332"/>
          </a:xfrm>
          <a:prstGeom prst="rect">
            <a:avLst/>
          </a:prstGeom>
          <a:noFill/>
        </p:spPr>
        <p:txBody>
          <a:bodyPr wrap="none" rtlCol="0">
            <a:spAutoFit/>
          </a:bodyPr>
          <a:lstStyle/>
          <a:p>
            <a:r>
              <a:rPr lang="en-IN" b="1" dirty="0" smtClean="0">
                <a:solidFill>
                  <a:srgbClr val="FF0000"/>
                </a:solidFill>
                <a:latin typeface="Book Antiqua" pitchFamily="18" charset="0"/>
              </a:rPr>
              <a:t>( 1-LEVEL DFD )</a:t>
            </a:r>
            <a:endParaRPr lang="en-IN" sz="1600" dirty="0" smtClean="0">
              <a:solidFill>
                <a:srgbClr val="FF0000"/>
              </a:solidFill>
              <a:latin typeface="Book Antiqua" pitchFamily="18" charset="0"/>
            </a:endParaRPr>
          </a:p>
        </p:txBody>
      </p:sp>
      <p:pic>
        <p:nvPicPr>
          <p:cNvPr id="4098" name="Picture 2"/>
          <p:cNvPicPr>
            <a:picLocks noChangeAspect="1" noChangeArrowheads="1"/>
          </p:cNvPicPr>
          <p:nvPr/>
        </p:nvPicPr>
        <p:blipFill>
          <a:blip r:embed="rId2"/>
          <a:srcRect l="2727" r="3448"/>
          <a:stretch>
            <a:fillRect/>
          </a:stretch>
        </p:blipFill>
        <p:spPr bwMode="auto">
          <a:xfrm>
            <a:off x="0" y="1500174"/>
            <a:ext cx="9144000" cy="451008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4282" y="142852"/>
            <a:ext cx="8786874" cy="2646878"/>
          </a:xfrm>
          <a:prstGeom prst="rect">
            <a:avLst/>
          </a:prstGeom>
          <a:noFill/>
        </p:spPr>
        <p:txBody>
          <a:bodyPr wrap="square" rtlCol="0">
            <a:spAutoFit/>
          </a:bodyPr>
          <a:lstStyle/>
          <a:p>
            <a:r>
              <a:rPr lang="en-IN" sz="2000" b="1" u="sng" dirty="0" smtClean="0">
                <a:latin typeface="Bell MT" pitchFamily="18" charset="0"/>
              </a:rPr>
              <a:t>Implementation of Project at a large-scale :-</a:t>
            </a:r>
          </a:p>
          <a:p>
            <a:endParaRPr lang="en-IN" sz="2000" b="1" u="sng" dirty="0" smtClean="0">
              <a:latin typeface="Bell MT" pitchFamily="18" charset="0"/>
            </a:endParaRPr>
          </a:p>
          <a:p>
            <a:r>
              <a:rPr lang="en-IN" dirty="0" smtClean="0">
                <a:latin typeface="Bell MT" pitchFamily="18" charset="0"/>
              </a:rPr>
              <a:t>We don’t think that this project could be implemented at a large-scale with these same components because Arduino component that we are using has current and voltage limitations that are very low. But, we can replace those components with the ones which have higher specifications but same workings like Arduino UNO with Arduino Mega and similar like this.</a:t>
            </a:r>
          </a:p>
          <a:p>
            <a:r>
              <a:rPr lang="en-IN" dirty="0" smtClean="0">
                <a:latin typeface="Bell MT" pitchFamily="18" charset="0"/>
              </a:rPr>
              <a:t>So, the conclusion is - this project is modifiable and possible to be implemented </a:t>
            </a:r>
            <a:r>
              <a:rPr lang="en-IN" smtClean="0">
                <a:latin typeface="Bell MT" pitchFamily="18" charset="0"/>
              </a:rPr>
              <a:t>at large-scale.</a:t>
            </a:r>
            <a:endParaRPr lang="en-IN" dirty="0">
              <a:latin typeface="Bell MT" pitchFamily="18"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410</TotalTime>
  <Words>1318</Words>
  <Application>Microsoft Office PowerPoint</Application>
  <PresentationFormat>On-screen Show (4:3)</PresentationFormat>
  <Paragraphs>149</Paragraphs>
  <Slides>15</Slides>
  <Notes>1</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HP</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HP</dc:creator>
  <cp:lastModifiedBy>HP</cp:lastModifiedBy>
  <cp:revision>44</cp:revision>
  <dcterms:created xsi:type="dcterms:W3CDTF">2021-02-28T04:31:29Z</dcterms:created>
  <dcterms:modified xsi:type="dcterms:W3CDTF">2021-02-28T16:30:40Z</dcterms:modified>
</cp:coreProperties>
</file>